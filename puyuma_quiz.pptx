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image" Target="../media/image-1-5.png"/><Relationship Id="rId8" Type="http://schemas.openxmlformats.org/officeDocument/2006/relationships/image" Target="../media/image-1-5.png"/><Relationship Id="rId9" Type="http://schemas.openxmlformats.org/officeDocument/2006/relationships/image" Target="../media/image-1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image" Target="../media/image-2-5.png"/><Relationship Id="rId6" Type="http://schemas.openxmlformats.org/officeDocument/2006/relationships/image" Target="../media/image-2-5.png"/><Relationship Id="rId7" Type="http://schemas.openxmlformats.org/officeDocument/2006/relationships/image" Target="../media/image-2-5.png"/><Relationship Id="rId8" Type="http://schemas.openxmlformats.org/officeDocument/2006/relationships/image" Target="../media/image-2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5.png"/><Relationship Id="rId6" Type="http://schemas.openxmlformats.org/officeDocument/2006/relationships/image" Target="../media/image-3-5.png"/><Relationship Id="rId7" Type="http://schemas.openxmlformats.org/officeDocument/2006/relationships/image" Target="../media/image-3-5.png"/><Relationship Id="rId8" Type="http://schemas.openxmlformats.org/officeDocument/2006/relationships/image" Target="../media/image-3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5.png"/><Relationship Id="rId8" Type="http://schemas.openxmlformats.org/officeDocument/2006/relationships/image" Target="../media/image-4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5.png"/><Relationship Id="rId8" Type="http://schemas.openxmlformats.org/officeDocument/2006/relationships/image" Target="../media/image-5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5.png"/><Relationship Id="rId8" Type="http://schemas.openxmlformats.org/officeDocument/2006/relationships/image" Target="../media/image-6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zigzag_b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56032"/>
          </a:xfrm>
          <a:prstGeom prst="rect">
            <a:avLst/>
          </a:prstGeom>
        </p:spPr>
      </p:pic>
      <p:pic>
        <p:nvPicPr>
          <p:cNvPr id="3" name="Image 1" descr="zigzag_b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1968"/>
            <a:ext cx="12188952" cy="256032"/>
          </a:xfrm>
          <a:prstGeom prst="rect">
            <a:avLst/>
          </a:prstGeom>
        </p:spPr>
      </p:pic>
      <p:pic>
        <p:nvPicPr>
          <p:cNvPr id="4" name="Image 2" descr="diamond_bor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032"/>
            <a:ext cx="256032" cy="6345936"/>
          </a:xfrm>
          <a:prstGeom prst="rect">
            <a:avLst/>
          </a:prstGeom>
        </p:spPr>
      </p:pic>
      <p:pic>
        <p:nvPicPr>
          <p:cNvPr id="5" name="Image 3" descr="diamond_bor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0" y="256032"/>
            <a:ext cx="256032" cy="6345936"/>
          </a:xfrm>
          <a:prstGeom prst="rect">
            <a:avLst/>
          </a:prstGeom>
        </p:spPr>
      </p:pic>
      <p:pic>
        <p:nvPicPr>
          <p:cNvPr id="6" name="Image 4" descr="flow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"/>
            <a:ext cx="640080" cy="640080"/>
          </a:xfrm>
          <a:prstGeom prst="rect">
            <a:avLst/>
          </a:prstGeom>
        </p:spPr>
      </p:pic>
      <p:pic>
        <p:nvPicPr>
          <p:cNvPr id="7" name="Image 5" descr="flow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1091672" y="384048"/>
            <a:ext cx="640080" cy="640080"/>
          </a:xfrm>
          <a:prstGeom prst="rect">
            <a:avLst/>
          </a:prstGeom>
        </p:spPr>
      </p:pic>
      <p:pic>
        <p:nvPicPr>
          <p:cNvPr id="8" name="Image 6" descr="flow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833872"/>
            <a:ext cx="640080" cy="640080"/>
          </a:xfrm>
          <a:prstGeom prst="rect">
            <a:avLst/>
          </a:prstGeom>
        </p:spPr>
      </p:pic>
      <p:pic>
        <p:nvPicPr>
          <p:cNvPr id="9" name="Image 7" descr="flow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1091672" y="5833872"/>
            <a:ext cx="640080" cy="640080"/>
          </a:xfrm>
          <a:prstGeom prst="rect">
            <a:avLst/>
          </a:prstGeom>
        </p:spPr>
      </p:pic>
      <p:pic>
        <p:nvPicPr>
          <p:cNvPr id="10" name="Image 8" descr="flow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8676" y="822960"/>
            <a:ext cx="1371600" cy="13716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卑南族文化知識大挑戰</a:t>
            </a:r>
            <a:endParaRPr lang="en-US" sz="4400" dirty="0"/>
          </a:p>
        </p:txBody>
      </p:sp>
      <p:sp>
        <p:nvSpPr>
          <p:cNvPr id="12" name="Text 1"/>
          <p:cNvSpPr/>
          <p:nvPr/>
        </p:nvSpPr>
        <p:spPr>
          <a:xfrm>
            <a:off x="731520" y="36118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Puyuma 族語與文化互動測驗</a:t>
            </a:r>
            <a:endParaRPr lang="en-US" sz="2200" dirty="0"/>
          </a:p>
        </p:txBody>
      </p:sp>
      <p:sp>
        <p:nvSpPr>
          <p:cNvPr id="13" name="Shape 2"/>
          <p:cNvSpPr/>
          <p:nvPr/>
        </p:nvSpPr>
        <p:spPr>
          <a:xfrm>
            <a:off x="527151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  <p:sp>
        <p:nvSpPr>
          <p:cNvPr id="14" name="Shape 3"/>
          <p:cNvSpPr/>
          <p:nvPr/>
        </p:nvSpPr>
        <p:spPr>
          <a:xfrm>
            <a:off x="55915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15" name="Shape 4"/>
          <p:cNvSpPr/>
          <p:nvPr/>
        </p:nvSpPr>
        <p:spPr>
          <a:xfrm>
            <a:off x="62773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16" name="Shape 5"/>
          <p:cNvSpPr/>
          <p:nvPr/>
        </p:nvSpPr>
        <p:spPr>
          <a:xfrm>
            <a:off x="659739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zigzag_b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56032"/>
          </a:xfrm>
          <a:prstGeom prst="rect">
            <a:avLst/>
          </a:prstGeom>
        </p:spPr>
      </p:pic>
      <p:pic>
        <p:nvPicPr>
          <p:cNvPr id="3" name="Image 1" descr="zigzag_b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1968"/>
            <a:ext cx="12188952" cy="256032"/>
          </a:xfrm>
          <a:prstGeom prst="rect">
            <a:avLst/>
          </a:prstGeom>
        </p:spPr>
      </p:pic>
      <p:pic>
        <p:nvPicPr>
          <p:cNvPr id="4" name="Image 2" descr="diamond_bor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032"/>
            <a:ext cx="256032" cy="6345936"/>
          </a:xfrm>
          <a:prstGeom prst="rect">
            <a:avLst/>
          </a:prstGeom>
        </p:spPr>
      </p:pic>
      <p:pic>
        <p:nvPicPr>
          <p:cNvPr id="5" name="Image 3" descr="diamond_bor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0" y="256032"/>
            <a:ext cx="256032" cy="6345936"/>
          </a:xfrm>
          <a:prstGeom prst="rect">
            <a:avLst/>
          </a:prstGeom>
        </p:spPr>
      </p:pic>
      <p:pic>
        <p:nvPicPr>
          <p:cNvPr id="6" name="Image 4" descr="flow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"/>
            <a:ext cx="640080" cy="640080"/>
          </a:xfrm>
          <a:prstGeom prst="rect">
            <a:avLst/>
          </a:prstGeom>
        </p:spPr>
      </p:pic>
      <p:pic>
        <p:nvPicPr>
          <p:cNvPr id="7" name="Image 5" descr="flow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1091672" y="384048"/>
            <a:ext cx="640080" cy="640080"/>
          </a:xfrm>
          <a:prstGeom prst="rect">
            <a:avLst/>
          </a:prstGeom>
        </p:spPr>
      </p:pic>
      <p:pic>
        <p:nvPicPr>
          <p:cNvPr id="8" name="Image 6" descr="flow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833872"/>
            <a:ext cx="640080" cy="640080"/>
          </a:xfrm>
          <a:prstGeom prst="rect">
            <a:avLst/>
          </a:prstGeom>
        </p:spPr>
      </p:pic>
      <p:pic>
        <p:nvPicPr>
          <p:cNvPr id="9" name="Image 7" descr="flow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1091672" y="5833872"/>
            <a:ext cx="640080" cy="64008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914400" y="777240"/>
            <a:ext cx="103601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你在台東的東糖文化創意園區市集逛街，看到一個精美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的卑南族傳統編織手工藝品。部落長輩親切地招呼你，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並順手送了你一張精美明信片。此時，你想要用族語表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達「謝謝」，應該要說哪一句話最合適？</a:t>
            </a:r>
            <a:endParaRPr lang="en-US" sz="2200" dirty="0"/>
          </a:p>
        </p:txBody>
      </p:sp>
      <p:sp>
        <p:nvSpPr>
          <p:cNvPr id="11" name="Shape 1"/>
          <p:cNvSpPr/>
          <p:nvPr/>
        </p:nvSpPr>
        <p:spPr>
          <a:xfrm>
            <a:off x="1554480" y="2743200"/>
            <a:ext cx="109728" cy="384048"/>
          </a:xfrm>
          <a:prstGeom prst="rect">
            <a:avLst/>
          </a:prstGeom>
          <a:solidFill>
            <a:srgbClr val="C6302B"/>
          </a:solidFill>
          <a:ln/>
        </p:spPr>
      </p:sp>
      <p:sp>
        <p:nvSpPr>
          <p:cNvPr id="12" name="Text 2"/>
          <p:cNvSpPr/>
          <p:nvPr/>
        </p:nvSpPr>
        <p:spPr>
          <a:xfrm>
            <a:off x="1828800" y="26974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(A) 'inavayan</a:t>
            </a:r>
            <a:endParaRPr lang="en-US" sz="2000" dirty="0"/>
          </a:p>
        </p:txBody>
      </p:sp>
      <p:sp>
        <p:nvSpPr>
          <p:cNvPr id="13" name="Shape 3"/>
          <p:cNvSpPr/>
          <p:nvPr/>
        </p:nvSpPr>
        <p:spPr>
          <a:xfrm>
            <a:off x="1554480" y="3364992"/>
            <a:ext cx="109728" cy="3840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4" name="Text 4"/>
          <p:cNvSpPr/>
          <p:nvPr/>
        </p:nvSpPr>
        <p:spPr>
          <a:xfrm>
            <a:off x="1828800" y="3319272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(B) lrayuwan</a:t>
            </a:r>
            <a:endParaRPr lang="en-US" sz="2000" dirty="0"/>
          </a:p>
        </p:txBody>
      </p:sp>
      <p:sp>
        <p:nvSpPr>
          <p:cNvPr id="15" name="Shape 5"/>
          <p:cNvSpPr/>
          <p:nvPr/>
        </p:nvSpPr>
        <p:spPr>
          <a:xfrm>
            <a:off x="1554480" y="3986784"/>
            <a:ext cx="109728" cy="384048"/>
          </a:xfrm>
          <a:prstGeom prst="rect">
            <a:avLst/>
          </a:prstGeom>
          <a:solidFill>
            <a:srgbClr val="3E6B2F"/>
          </a:solidFill>
          <a:ln/>
        </p:spPr>
      </p:sp>
      <p:sp>
        <p:nvSpPr>
          <p:cNvPr id="16" name="Text 6"/>
          <p:cNvSpPr/>
          <p:nvPr/>
        </p:nvSpPr>
        <p:spPr>
          <a:xfrm>
            <a:off x="1828800" y="3941064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(C) marepana'uwa ta ziya</a:t>
            </a:r>
            <a:endParaRPr lang="en-US" sz="2000" dirty="0"/>
          </a:p>
        </p:txBody>
      </p:sp>
      <p:sp>
        <p:nvSpPr>
          <p:cNvPr id="17" name="Shape 7"/>
          <p:cNvSpPr/>
          <p:nvPr/>
        </p:nvSpPr>
        <p:spPr>
          <a:xfrm>
            <a:off x="1554480" y="4608576"/>
            <a:ext cx="109728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8"/>
          <p:cNvSpPr/>
          <p:nvPr/>
        </p:nvSpPr>
        <p:spPr>
          <a:xfrm>
            <a:off x="1828800" y="4562856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(D) semangal ku kirekalrazam kannu</a:t>
            </a:r>
            <a:endParaRPr lang="en-US" sz="2000" dirty="0"/>
          </a:p>
        </p:txBody>
      </p:sp>
      <p:sp>
        <p:nvSpPr>
          <p:cNvPr id="19" name="Shape 9"/>
          <p:cNvSpPr/>
          <p:nvPr/>
        </p:nvSpPr>
        <p:spPr>
          <a:xfrm>
            <a:off x="527151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  <p:sp>
        <p:nvSpPr>
          <p:cNvPr id="20" name="Shape 10"/>
          <p:cNvSpPr/>
          <p:nvPr/>
        </p:nvSpPr>
        <p:spPr>
          <a:xfrm>
            <a:off x="55915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21" name="Shape 11"/>
          <p:cNvSpPr/>
          <p:nvPr/>
        </p:nvSpPr>
        <p:spPr>
          <a:xfrm>
            <a:off x="62773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22" name="Shape 12"/>
          <p:cNvSpPr/>
          <p:nvPr/>
        </p:nvSpPr>
        <p:spPr>
          <a:xfrm>
            <a:off x="659739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zigzag_b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56032"/>
          </a:xfrm>
          <a:prstGeom prst="rect">
            <a:avLst/>
          </a:prstGeom>
        </p:spPr>
      </p:pic>
      <p:pic>
        <p:nvPicPr>
          <p:cNvPr id="3" name="Image 1" descr="zigzag_b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1968"/>
            <a:ext cx="12188952" cy="256032"/>
          </a:xfrm>
          <a:prstGeom prst="rect">
            <a:avLst/>
          </a:prstGeom>
        </p:spPr>
      </p:pic>
      <p:pic>
        <p:nvPicPr>
          <p:cNvPr id="4" name="Image 2" descr="diamond_bor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032"/>
            <a:ext cx="256032" cy="6345936"/>
          </a:xfrm>
          <a:prstGeom prst="rect">
            <a:avLst/>
          </a:prstGeom>
        </p:spPr>
      </p:pic>
      <p:pic>
        <p:nvPicPr>
          <p:cNvPr id="5" name="Image 3" descr="diamond_bor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0" y="256032"/>
            <a:ext cx="256032" cy="6345936"/>
          </a:xfrm>
          <a:prstGeom prst="rect">
            <a:avLst/>
          </a:prstGeom>
        </p:spPr>
      </p:pic>
      <p:pic>
        <p:nvPicPr>
          <p:cNvPr id="6" name="Image 4" descr="flow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"/>
            <a:ext cx="640080" cy="640080"/>
          </a:xfrm>
          <a:prstGeom prst="rect">
            <a:avLst/>
          </a:prstGeom>
        </p:spPr>
      </p:pic>
      <p:pic>
        <p:nvPicPr>
          <p:cNvPr id="7" name="Image 5" descr="flow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1091672" y="384048"/>
            <a:ext cx="640080" cy="640080"/>
          </a:xfrm>
          <a:prstGeom prst="rect">
            <a:avLst/>
          </a:prstGeom>
        </p:spPr>
      </p:pic>
      <p:pic>
        <p:nvPicPr>
          <p:cNvPr id="8" name="Image 6" descr="flow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833872"/>
            <a:ext cx="640080" cy="640080"/>
          </a:xfrm>
          <a:prstGeom prst="rect">
            <a:avLst/>
          </a:prstGeom>
        </p:spPr>
      </p:pic>
      <p:pic>
        <p:nvPicPr>
          <p:cNvPr id="9" name="Image 7" descr="flow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1091672" y="5833872"/>
            <a:ext cx="640080" cy="64008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914400" y="91440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在卑南語西群中，打招呼時最常用的問候語</a:t>
            </a:r>
            <a:endParaRPr lang="en-US" sz="2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「Inavayan」代表什麼意思？</a:t>
            </a:r>
            <a:endParaRPr lang="en-US" sz="2600" dirty="0"/>
          </a:p>
        </p:txBody>
      </p:sp>
      <p:sp>
        <p:nvSpPr>
          <p:cNvPr id="11" name="Shape 1"/>
          <p:cNvSpPr/>
          <p:nvPr/>
        </p:nvSpPr>
        <p:spPr>
          <a:xfrm>
            <a:off x="1828800" y="2926080"/>
            <a:ext cx="109728" cy="457200"/>
          </a:xfrm>
          <a:prstGeom prst="rect">
            <a:avLst/>
          </a:prstGeom>
          <a:solidFill>
            <a:srgbClr val="C6302B"/>
          </a:solidFill>
          <a:ln/>
        </p:spPr>
      </p:sp>
      <p:sp>
        <p:nvSpPr>
          <p:cNvPr id="12" name="Text 2"/>
          <p:cNvSpPr/>
          <p:nvPr/>
        </p:nvSpPr>
        <p:spPr>
          <a:xfrm>
            <a:off x="2103120" y="2880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A. 你好 / 你好嗎</a:t>
            </a:r>
            <a:endParaRPr lang="en-US" sz="2400" dirty="0"/>
          </a:p>
        </p:txBody>
      </p:sp>
      <p:sp>
        <p:nvSpPr>
          <p:cNvPr id="13" name="Shape 3"/>
          <p:cNvSpPr/>
          <p:nvPr/>
        </p:nvSpPr>
        <p:spPr>
          <a:xfrm>
            <a:off x="6675120" y="2926080"/>
            <a:ext cx="109728" cy="45720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4" name="Text 4"/>
          <p:cNvSpPr/>
          <p:nvPr/>
        </p:nvSpPr>
        <p:spPr>
          <a:xfrm>
            <a:off x="6949440" y="2880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B. 謝謝</a:t>
            </a:r>
            <a:endParaRPr lang="en-US" sz="2400" dirty="0"/>
          </a:p>
        </p:txBody>
      </p:sp>
      <p:sp>
        <p:nvSpPr>
          <p:cNvPr id="15" name="Shape 5"/>
          <p:cNvSpPr/>
          <p:nvPr/>
        </p:nvSpPr>
        <p:spPr>
          <a:xfrm>
            <a:off x="1828800" y="3794760"/>
            <a:ext cx="109728" cy="457200"/>
          </a:xfrm>
          <a:prstGeom prst="rect">
            <a:avLst/>
          </a:prstGeom>
          <a:solidFill>
            <a:srgbClr val="3E6B2F"/>
          </a:solidFill>
          <a:ln/>
        </p:spPr>
      </p:sp>
      <p:sp>
        <p:nvSpPr>
          <p:cNvPr id="16" name="Text 6"/>
          <p:cNvSpPr/>
          <p:nvPr/>
        </p:nvSpPr>
        <p:spPr>
          <a:xfrm>
            <a:off x="2103120" y="3749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C. 再見</a:t>
            </a:r>
            <a:endParaRPr lang="en-US" sz="2400" dirty="0"/>
          </a:p>
        </p:txBody>
      </p:sp>
      <p:sp>
        <p:nvSpPr>
          <p:cNvPr id="17" name="Shape 7"/>
          <p:cNvSpPr/>
          <p:nvPr/>
        </p:nvSpPr>
        <p:spPr>
          <a:xfrm>
            <a:off x="6675120" y="3794760"/>
            <a:ext cx="109728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8"/>
          <p:cNvSpPr/>
          <p:nvPr/>
        </p:nvSpPr>
        <p:spPr>
          <a:xfrm>
            <a:off x="6949440" y="3749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D. 對不起</a:t>
            </a:r>
            <a:endParaRPr lang="en-US" sz="2400" dirty="0"/>
          </a:p>
        </p:txBody>
      </p:sp>
      <p:sp>
        <p:nvSpPr>
          <p:cNvPr id="19" name="Shape 9"/>
          <p:cNvSpPr/>
          <p:nvPr/>
        </p:nvSpPr>
        <p:spPr>
          <a:xfrm>
            <a:off x="527151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  <p:sp>
        <p:nvSpPr>
          <p:cNvPr id="20" name="Shape 10"/>
          <p:cNvSpPr/>
          <p:nvPr/>
        </p:nvSpPr>
        <p:spPr>
          <a:xfrm>
            <a:off x="55915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21" name="Shape 11"/>
          <p:cNvSpPr/>
          <p:nvPr/>
        </p:nvSpPr>
        <p:spPr>
          <a:xfrm>
            <a:off x="62773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22" name="Shape 12"/>
          <p:cNvSpPr/>
          <p:nvPr/>
        </p:nvSpPr>
        <p:spPr>
          <a:xfrm>
            <a:off x="659739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zigzag_b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56032"/>
          </a:xfrm>
          <a:prstGeom prst="rect">
            <a:avLst/>
          </a:prstGeom>
        </p:spPr>
      </p:pic>
      <p:pic>
        <p:nvPicPr>
          <p:cNvPr id="3" name="Image 1" descr="zigzag_b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1968"/>
            <a:ext cx="12188952" cy="256032"/>
          </a:xfrm>
          <a:prstGeom prst="rect">
            <a:avLst/>
          </a:prstGeom>
        </p:spPr>
      </p:pic>
      <p:pic>
        <p:nvPicPr>
          <p:cNvPr id="4" name="Image 2" descr="diamond_bor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032"/>
            <a:ext cx="256032" cy="6345936"/>
          </a:xfrm>
          <a:prstGeom prst="rect">
            <a:avLst/>
          </a:prstGeom>
        </p:spPr>
      </p:pic>
      <p:pic>
        <p:nvPicPr>
          <p:cNvPr id="5" name="Image 3" descr="diamond_bor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0" y="256032"/>
            <a:ext cx="256032" cy="6345936"/>
          </a:xfrm>
          <a:prstGeom prst="rect">
            <a:avLst/>
          </a:prstGeom>
        </p:spPr>
      </p:pic>
      <p:pic>
        <p:nvPicPr>
          <p:cNvPr id="6" name="Image 4" descr="flow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"/>
            <a:ext cx="640080" cy="640080"/>
          </a:xfrm>
          <a:prstGeom prst="rect">
            <a:avLst/>
          </a:prstGeom>
        </p:spPr>
      </p:pic>
      <p:pic>
        <p:nvPicPr>
          <p:cNvPr id="7" name="Image 5" descr="flow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1091672" y="384048"/>
            <a:ext cx="640080" cy="640080"/>
          </a:xfrm>
          <a:prstGeom prst="rect">
            <a:avLst/>
          </a:prstGeom>
        </p:spPr>
      </p:pic>
      <p:pic>
        <p:nvPicPr>
          <p:cNvPr id="8" name="Image 6" descr="flow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833872"/>
            <a:ext cx="640080" cy="640080"/>
          </a:xfrm>
          <a:prstGeom prst="rect">
            <a:avLst/>
          </a:prstGeom>
        </p:spPr>
      </p:pic>
      <p:pic>
        <p:nvPicPr>
          <p:cNvPr id="9" name="Image 7" descr="flow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1091672" y="5833872"/>
            <a:ext cx="640080" cy="64008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914400" y="777240"/>
            <a:ext cx="103601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如果要跟朋友道別，希望下次還能再見面，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卑南語應該說哪一句話？</a:t>
            </a:r>
            <a:endParaRPr lang="en-US" sz="2200" dirty="0"/>
          </a:p>
        </p:txBody>
      </p:sp>
      <p:sp>
        <p:nvSpPr>
          <p:cNvPr id="11" name="Shape 1"/>
          <p:cNvSpPr/>
          <p:nvPr/>
        </p:nvSpPr>
        <p:spPr>
          <a:xfrm>
            <a:off x="1554480" y="2743200"/>
            <a:ext cx="109728" cy="384048"/>
          </a:xfrm>
          <a:prstGeom prst="rect">
            <a:avLst/>
          </a:prstGeom>
          <a:solidFill>
            <a:srgbClr val="C6302B"/>
          </a:solidFill>
          <a:ln/>
        </p:spPr>
      </p:sp>
      <p:sp>
        <p:nvSpPr>
          <p:cNvPr id="12" name="Text 2"/>
          <p:cNvSpPr/>
          <p:nvPr/>
        </p:nvSpPr>
        <p:spPr>
          <a:xfrm>
            <a:off x="1828800" y="26974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(A) marepana'uwa ta ziya</a:t>
            </a:r>
            <a:endParaRPr lang="en-US" sz="2000" dirty="0"/>
          </a:p>
        </p:txBody>
      </p:sp>
      <p:sp>
        <p:nvSpPr>
          <p:cNvPr id="13" name="Shape 3"/>
          <p:cNvSpPr/>
          <p:nvPr/>
        </p:nvSpPr>
        <p:spPr>
          <a:xfrm>
            <a:off x="1554480" y="3364992"/>
            <a:ext cx="109728" cy="3840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4" name="Text 4"/>
          <p:cNvSpPr/>
          <p:nvPr/>
        </p:nvSpPr>
        <p:spPr>
          <a:xfrm>
            <a:off x="1828800" y="3319272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(B) inavayan</a:t>
            </a:r>
            <a:endParaRPr lang="en-US" sz="2000" dirty="0"/>
          </a:p>
        </p:txBody>
      </p:sp>
      <p:sp>
        <p:nvSpPr>
          <p:cNvPr id="15" name="Shape 5"/>
          <p:cNvSpPr/>
          <p:nvPr/>
        </p:nvSpPr>
        <p:spPr>
          <a:xfrm>
            <a:off x="1554480" y="3986784"/>
            <a:ext cx="109728" cy="384048"/>
          </a:xfrm>
          <a:prstGeom prst="rect">
            <a:avLst/>
          </a:prstGeom>
          <a:solidFill>
            <a:srgbClr val="3E6B2F"/>
          </a:solidFill>
          <a:ln/>
        </p:spPr>
      </p:sp>
      <p:sp>
        <p:nvSpPr>
          <p:cNvPr id="16" name="Text 6"/>
          <p:cNvSpPr/>
          <p:nvPr/>
        </p:nvSpPr>
        <p:spPr>
          <a:xfrm>
            <a:off x="1828800" y="3941064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(C) lrayuwan</a:t>
            </a:r>
            <a:endParaRPr lang="en-US" sz="2000" dirty="0"/>
          </a:p>
        </p:txBody>
      </p:sp>
      <p:sp>
        <p:nvSpPr>
          <p:cNvPr id="17" name="Shape 7"/>
          <p:cNvSpPr/>
          <p:nvPr/>
        </p:nvSpPr>
        <p:spPr>
          <a:xfrm>
            <a:off x="1554480" y="4608576"/>
            <a:ext cx="109728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8"/>
          <p:cNvSpPr/>
          <p:nvPr/>
        </p:nvSpPr>
        <p:spPr>
          <a:xfrm>
            <a:off x="1828800" y="4562856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(D) semangal ku kirekalrazam kannu</a:t>
            </a:r>
            <a:endParaRPr lang="en-US" sz="2000" dirty="0"/>
          </a:p>
        </p:txBody>
      </p:sp>
      <p:sp>
        <p:nvSpPr>
          <p:cNvPr id="19" name="Shape 9"/>
          <p:cNvSpPr/>
          <p:nvPr/>
        </p:nvSpPr>
        <p:spPr>
          <a:xfrm>
            <a:off x="527151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  <p:sp>
        <p:nvSpPr>
          <p:cNvPr id="20" name="Shape 10"/>
          <p:cNvSpPr/>
          <p:nvPr/>
        </p:nvSpPr>
        <p:spPr>
          <a:xfrm>
            <a:off x="55915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21" name="Shape 11"/>
          <p:cNvSpPr/>
          <p:nvPr/>
        </p:nvSpPr>
        <p:spPr>
          <a:xfrm>
            <a:off x="62773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22" name="Shape 12"/>
          <p:cNvSpPr/>
          <p:nvPr/>
        </p:nvSpPr>
        <p:spPr>
          <a:xfrm>
            <a:off x="659739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zigzag_b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56032"/>
          </a:xfrm>
          <a:prstGeom prst="rect">
            <a:avLst/>
          </a:prstGeom>
        </p:spPr>
      </p:pic>
      <p:pic>
        <p:nvPicPr>
          <p:cNvPr id="3" name="Image 1" descr="zigzag_b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1968"/>
            <a:ext cx="12188952" cy="256032"/>
          </a:xfrm>
          <a:prstGeom prst="rect">
            <a:avLst/>
          </a:prstGeom>
        </p:spPr>
      </p:pic>
      <p:pic>
        <p:nvPicPr>
          <p:cNvPr id="4" name="Image 2" descr="diamond_bor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032"/>
            <a:ext cx="256032" cy="6345936"/>
          </a:xfrm>
          <a:prstGeom prst="rect">
            <a:avLst/>
          </a:prstGeom>
        </p:spPr>
      </p:pic>
      <p:pic>
        <p:nvPicPr>
          <p:cNvPr id="5" name="Image 3" descr="diamond_bor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0" y="256032"/>
            <a:ext cx="256032" cy="6345936"/>
          </a:xfrm>
          <a:prstGeom prst="rect">
            <a:avLst/>
          </a:prstGeom>
        </p:spPr>
      </p:pic>
      <p:pic>
        <p:nvPicPr>
          <p:cNvPr id="6" name="Image 4" descr="flow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"/>
            <a:ext cx="640080" cy="640080"/>
          </a:xfrm>
          <a:prstGeom prst="rect">
            <a:avLst/>
          </a:prstGeom>
        </p:spPr>
      </p:pic>
      <p:pic>
        <p:nvPicPr>
          <p:cNvPr id="7" name="Image 5" descr="flow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1091672" y="384048"/>
            <a:ext cx="640080" cy="640080"/>
          </a:xfrm>
          <a:prstGeom prst="rect">
            <a:avLst/>
          </a:prstGeom>
        </p:spPr>
      </p:pic>
      <p:pic>
        <p:nvPicPr>
          <p:cNvPr id="8" name="Image 6" descr="flow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833872"/>
            <a:ext cx="640080" cy="640080"/>
          </a:xfrm>
          <a:prstGeom prst="rect">
            <a:avLst/>
          </a:prstGeom>
        </p:spPr>
      </p:pic>
      <p:pic>
        <p:nvPicPr>
          <p:cNvPr id="9" name="Image 7" descr="flow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1091672" y="5833872"/>
            <a:ext cx="640080" cy="64008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914400" y="777240"/>
            <a:ext cx="103601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當別人幫助了你，或者你想向對方表達感謝時，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卑南語可以使用哪一個詞彙？</a:t>
            </a:r>
            <a:endParaRPr lang="en-US" sz="2200" dirty="0"/>
          </a:p>
        </p:txBody>
      </p:sp>
      <p:sp>
        <p:nvSpPr>
          <p:cNvPr id="11" name="Shape 1"/>
          <p:cNvSpPr/>
          <p:nvPr/>
        </p:nvSpPr>
        <p:spPr>
          <a:xfrm>
            <a:off x="1554480" y="2743200"/>
            <a:ext cx="109728" cy="384048"/>
          </a:xfrm>
          <a:prstGeom prst="rect">
            <a:avLst/>
          </a:prstGeom>
          <a:solidFill>
            <a:srgbClr val="C6302B"/>
          </a:solidFill>
          <a:ln/>
        </p:spPr>
      </p:sp>
      <p:sp>
        <p:nvSpPr>
          <p:cNvPr id="12" name="Text 2"/>
          <p:cNvSpPr/>
          <p:nvPr/>
        </p:nvSpPr>
        <p:spPr>
          <a:xfrm>
            <a:off x="1828800" y="26974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(A) inavayan</a:t>
            </a:r>
            <a:endParaRPr lang="en-US" sz="2000" dirty="0"/>
          </a:p>
        </p:txBody>
      </p:sp>
      <p:sp>
        <p:nvSpPr>
          <p:cNvPr id="13" name="Shape 3"/>
          <p:cNvSpPr/>
          <p:nvPr/>
        </p:nvSpPr>
        <p:spPr>
          <a:xfrm>
            <a:off x="1554480" y="3364992"/>
            <a:ext cx="109728" cy="3840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4" name="Text 4"/>
          <p:cNvSpPr/>
          <p:nvPr/>
        </p:nvSpPr>
        <p:spPr>
          <a:xfrm>
            <a:off x="1828800" y="3319272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(B) marepana'uwa ta ziya</a:t>
            </a:r>
            <a:endParaRPr lang="en-US" sz="2000" dirty="0"/>
          </a:p>
        </p:txBody>
      </p:sp>
      <p:sp>
        <p:nvSpPr>
          <p:cNvPr id="15" name="Shape 5"/>
          <p:cNvSpPr/>
          <p:nvPr/>
        </p:nvSpPr>
        <p:spPr>
          <a:xfrm>
            <a:off x="1554480" y="3986784"/>
            <a:ext cx="109728" cy="384048"/>
          </a:xfrm>
          <a:prstGeom prst="rect">
            <a:avLst/>
          </a:prstGeom>
          <a:solidFill>
            <a:srgbClr val="3E6B2F"/>
          </a:solidFill>
          <a:ln/>
        </p:spPr>
      </p:sp>
      <p:sp>
        <p:nvSpPr>
          <p:cNvPr id="16" name="Text 6"/>
          <p:cNvSpPr/>
          <p:nvPr/>
        </p:nvSpPr>
        <p:spPr>
          <a:xfrm>
            <a:off x="1828800" y="3941064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(C) semangal ku kirekalrazam kannu</a:t>
            </a:r>
            <a:endParaRPr lang="en-US" sz="2000" dirty="0"/>
          </a:p>
        </p:txBody>
      </p:sp>
      <p:sp>
        <p:nvSpPr>
          <p:cNvPr id="17" name="Shape 7"/>
          <p:cNvSpPr/>
          <p:nvPr/>
        </p:nvSpPr>
        <p:spPr>
          <a:xfrm>
            <a:off x="1554480" y="4608576"/>
            <a:ext cx="109728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8"/>
          <p:cNvSpPr/>
          <p:nvPr/>
        </p:nvSpPr>
        <p:spPr>
          <a:xfrm>
            <a:off x="1828800" y="4562856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(D) lrayuwan</a:t>
            </a:r>
            <a:endParaRPr lang="en-US" sz="2000" dirty="0"/>
          </a:p>
        </p:txBody>
      </p:sp>
      <p:sp>
        <p:nvSpPr>
          <p:cNvPr id="19" name="Shape 9"/>
          <p:cNvSpPr/>
          <p:nvPr/>
        </p:nvSpPr>
        <p:spPr>
          <a:xfrm>
            <a:off x="527151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  <p:sp>
        <p:nvSpPr>
          <p:cNvPr id="20" name="Shape 10"/>
          <p:cNvSpPr/>
          <p:nvPr/>
        </p:nvSpPr>
        <p:spPr>
          <a:xfrm>
            <a:off x="55915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21" name="Shape 11"/>
          <p:cNvSpPr/>
          <p:nvPr/>
        </p:nvSpPr>
        <p:spPr>
          <a:xfrm>
            <a:off x="62773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22" name="Shape 12"/>
          <p:cNvSpPr/>
          <p:nvPr/>
        </p:nvSpPr>
        <p:spPr>
          <a:xfrm>
            <a:off x="659739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zigzag_b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56032"/>
          </a:xfrm>
          <a:prstGeom prst="rect">
            <a:avLst/>
          </a:prstGeom>
        </p:spPr>
      </p:pic>
      <p:pic>
        <p:nvPicPr>
          <p:cNvPr id="3" name="Image 1" descr="zigzag_b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1968"/>
            <a:ext cx="12188952" cy="256032"/>
          </a:xfrm>
          <a:prstGeom prst="rect">
            <a:avLst/>
          </a:prstGeom>
        </p:spPr>
      </p:pic>
      <p:pic>
        <p:nvPicPr>
          <p:cNvPr id="4" name="Image 2" descr="diamond_bor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032"/>
            <a:ext cx="256032" cy="6345936"/>
          </a:xfrm>
          <a:prstGeom prst="rect">
            <a:avLst/>
          </a:prstGeom>
        </p:spPr>
      </p:pic>
      <p:pic>
        <p:nvPicPr>
          <p:cNvPr id="5" name="Image 3" descr="diamond_bor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0" y="256032"/>
            <a:ext cx="256032" cy="6345936"/>
          </a:xfrm>
          <a:prstGeom prst="rect">
            <a:avLst/>
          </a:prstGeom>
        </p:spPr>
      </p:pic>
      <p:pic>
        <p:nvPicPr>
          <p:cNvPr id="6" name="Image 4" descr="flow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"/>
            <a:ext cx="640080" cy="640080"/>
          </a:xfrm>
          <a:prstGeom prst="rect">
            <a:avLst/>
          </a:prstGeom>
        </p:spPr>
      </p:pic>
      <p:pic>
        <p:nvPicPr>
          <p:cNvPr id="7" name="Image 5" descr="flow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1091672" y="384048"/>
            <a:ext cx="640080" cy="640080"/>
          </a:xfrm>
          <a:prstGeom prst="rect">
            <a:avLst/>
          </a:prstGeom>
        </p:spPr>
      </p:pic>
      <p:pic>
        <p:nvPicPr>
          <p:cNvPr id="8" name="Image 6" descr="flow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833872"/>
            <a:ext cx="640080" cy="640080"/>
          </a:xfrm>
          <a:prstGeom prst="rect">
            <a:avLst/>
          </a:prstGeom>
        </p:spPr>
      </p:pic>
      <p:pic>
        <p:nvPicPr>
          <p:cNvPr id="9" name="Image 7" descr="flow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1091672" y="5833872"/>
            <a:ext cx="640080" cy="64008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914400" y="91440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在初次認識新朋友的場合，卑南語會說「Semangal ku</a:t>
            </a:r>
            <a:endParaRPr lang="en-US" sz="2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7A1F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kirekalrazam kannu」，這句話代表什麼意思？</a:t>
            </a:r>
            <a:endParaRPr lang="en-US" sz="2600" dirty="0"/>
          </a:p>
        </p:txBody>
      </p:sp>
      <p:sp>
        <p:nvSpPr>
          <p:cNvPr id="11" name="Shape 1"/>
          <p:cNvSpPr/>
          <p:nvPr/>
        </p:nvSpPr>
        <p:spPr>
          <a:xfrm>
            <a:off x="1828800" y="2926080"/>
            <a:ext cx="109728" cy="457200"/>
          </a:xfrm>
          <a:prstGeom prst="rect">
            <a:avLst/>
          </a:prstGeom>
          <a:solidFill>
            <a:srgbClr val="C6302B"/>
          </a:solidFill>
          <a:ln/>
        </p:spPr>
      </p:sp>
      <p:sp>
        <p:nvSpPr>
          <p:cNvPr id="12" name="Text 2"/>
          <p:cNvSpPr/>
          <p:nvPr/>
        </p:nvSpPr>
        <p:spPr>
          <a:xfrm>
            <a:off x="2103120" y="2880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A. 祝你一路順風</a:t>
            </a:r>
            <a:endParaRPr lang="en-US" sz="2400" dirty="0"/>
          </a:p>
        </p:txBody>
      </p:sp>
      <p:sp>
        <p:nvSpPr>
          <p:cNvPr id="13" name="Shape 3"/>
          <p:cNvSpPr/>
          <p:nvPr/>
        </p:nvSpPr>
        <p:spPr>
          <a:xfrm>
            <a:off x="6675120" y="2926080"/>
            <a:ext cx="109728" cy="45720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4" name="Text 4"/>
          <p:cNvSpPr/>
          <p:nvPr/>
        </p:nvSpPr>
        <p:spPr>
          <a:xfrm>
            <a:off x="6949440" y="2880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B. 我很好，謝謝</a:t>
            </a:r>
            <a:endParaRPr lang="en-US" sz="2400" dirty="0"/>
          </a:p>
        </p:txBody>
      </p:sp>
      <p:sp>
        <p:nvSpPr>
          <p:cNvPr id="15" name="Shape 5"/>
          <p:cNvSpPr/>
          <p:nvPr/>
        </p:nvSpPr>
        <p:spPr>
          <a:xfrm>
            <a:off x="1828800" y="3794760"/>
            <a:ext cx="109728" cy="457200"/>
          </a:xfrm>
          <a:prstGeom prst="rect">
            <a:avLst/>
          </a:prstGeom>
          <a:solidFill>
            <a:srgbClr val="3E6B2F"/>
          </a:solidFill>
          <a:ln/>
        </p:spPr>
      </p:sp>
      <p:sp>
        <p:nvSpPr>
          <p:cNvPr id="16" name="Text 6"/>
          <p:cNvSpPr/>
          <p:nvPr/>
        </p:nvSpPr>
        <p:spPr>
          <a:xfrm>
            <a:off x="2103120" y="3749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C. 這是我家</a:t>
            </a:r>
            <a:endParaRPr lang="en-US" sz="2400" dirty="0"/>
          </a:p>
        </p:txBody>
      </p:sp>
      <p:sp>
        <p:nvSpPr>
          <p:cNvPr id="17" name="Shape 7"/>
          <p:cNvSpPr/>
          <p:nvPr/>
        </p:nvSpPr>
        <p:spPr>
          <a:xfrm>
            <a:off x="6675120" y="3794760"/>
            <a:ext cx="109728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8"/>
          <p:cNvSpPr/>
          <p:nvPr/>
        </p:nvSpPr>
        <p:spPr>
          <a:xfrm>
            <a:off x="6949440" y="3749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E3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D. 很高興認識你</a:t>
            </a:r>
            <a:endParaRPr lang="en-US" sz="2400" dirty="0"/>
          </a:p>
        </p:txBody>
      </p:sp>
      <p:sp>
        <p:nvSpPr>
          <p:cNvPr id="19" name="Shape 9"/>
          <p:cNvSpPr/>
          <p:nvPr/>
        </p:nvSpPr>
        <p:spPr>
          <a:xfrm>
            <a:off x="527151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  <p:sp>
        <p:nvSpPr>
          <p:cNvPr id="20" name="Shape 10"/>
          <p:cNvSpPr/>
          <p:nvPr/>
        </p:nvSpPr>
        <p:spPr>
          <a:xfrm>
            <a:off x="55915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21" name="Shape 11"/>
          <p:cNvSpPr/>
          <p:nvPr/>
        </p:nvSpPr>
        <p:spPr>
          <a:xfrm>
            <a:off x="6277356" y="5897880"/>
            <a:ext cx="320040" cy="274320"/>
          </a:xfrm>
          <a:prstGeom prst="triangle">
            <a:avLst/>
          </a:prstGeom>
          <a:solidFill>
            <a:srgbClr val="F2B705"/>
          </a:solidFill>
          <a:ln/>
        </p:spPr>
      </p:sp>
      <p:sp>
        <p:nvSpPr>
          <p:cNvPr id="22" name="Shape 12"/>
          <p:cNvSpPr/>
          <p:nvPr/>
        </p:nvSpPr>
        <p:spPr>
          <a:xfrm>
            <a:off x="6597396" y="5897880"/>
            <a:ext cx="320040" cy="274320"/>
          </a:xfrm>
          <a:prstGeom prst="triangle">
            <a:avLst/>
          </a:prstGeom>
          <a:solidFill>
            <a:srgbClr val="C6302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2026-07-31T03:37:47Z</dcterms:created>
  <dcterms:modified xsi:type="dcterms:W3CDTF">2026-07-31T03:37:47Z</dcterms:modified>
</cp:coreProperties>
</file>