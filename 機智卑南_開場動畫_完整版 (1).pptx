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309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教師口白：好，剛剛我們認識了卑南族豐富的文化，接下來讓凱比機器人帶大家一起學習卑南語，準備好了嗎？出發闖關！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0007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" name="Shape 2"/>
          <p:cNvSpPr/>
          <p:nvPr/>
        </p:nvSpPr>
        <p:spPr>
          <a:xfrm>
            <a:off x="110680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61353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6" name="Shape 4"/>
          <p:cNvSpPr/>
          <p:nvPr/>
        </p:nvSpPr>
        <p:spPr>
          <a:xfrm>
            <a:off x="212026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62699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8" name="Shape 6"/>
          <p:cNvSpPr/>
          <p:nvPr/>
        </p:nvSpPr>
        <p:spPr>
          <a:xfrm>
            <a:off x="313372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364045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0" name="Shape 8"/>
          <p:cNvSpPr/>
          <p:nvPr/>
        </p:nvSpPr>
        <p:spPr>
          <a:xfrm>
            <a:off x="414718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465391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516064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737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410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8083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18756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69429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8" name="Shape 16"/>
          <p:cNvSpPr/>
          <p:nvPr/>
        </p:nvSpPr>
        <p:spPr>
          <a:xfrm>
            <a:off x="820102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0775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1448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972121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2794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3467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41405" y="32004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48135" y="32004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6" name="Shape 24"/>
          <p:cNvSpPr/>
          <p:nvPr/>
        </p:nvSpPr>
        <p:spPr>
          <a:xfrm>
            <a:off x="9334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0007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680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9" name="Shape 27"/>
          <p:cNvSpPr/>
          <p:nvPr/>
        </p:nvSpPr>
        <p:spPr>
          <a:xfrm>
            <a:off x="161353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0" name="Shape 28"/>
          <p:cNvSpPr/>
          <p:nvPr/>
        </p:nvSpPr>
        <p:spPr>
          <a:xfrm>
            <a:off x="212026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1" name="Shape 29"/>
          <p:cNvSpPr/>
          <p:nvPr/>
        </p:nvSpPr>
        <p:spPr>
          <a:xfrm>
            <a:off x="262699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2" name="Shape 30"/>
          <p:cNvSpPr/>
          <p:nvPr/>
        </p:nvSpPr>
        <p:spPr>
          <a:xfrm>
            <a:off x="313372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31"/>
          <p:cNvSpPr/>
          <p:nvPr/>
        </p:nvSpPr>
        <p:spPr>
          <a:xfrm>
            <a:off x="364045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4" name="Shape 32"/>
          <p:cNvSpPr/>
          <p:nvPr/>
        </p:nvSpPr>
        <p:spPr>
          <a:xfrm>
            <a:off x="414718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33"/>
          <p:cNvSpPr/>
          <p:nvPr/>
        </p:nvSpPr>
        <p:spPr>
          <a:xfrm>
            <a:off x="465391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6" name="Shape 34"/>
          <p:cNvSpPr/>
          <p:nvPr/>
        </p:nvSpPr>
        <p:spPr>
          <a:xfrm>
            <a:off x="516064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35"/>
          <p:cNvSpPr/>
          <p:nvPr/>
        </p:nvSpPr>
        <p:spPr>
          <a:xfrm>
            <a:off x="566737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8" name="Shape 36"/>
          <p:cNvSpPr/>
          <p:nvPr/>
        </p:nvSpPr>
        <p:spPr>
          <a:xfrm>
            <a:off x="617410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37"/>
          <p:cNvSpPr/>
          <p:nvPr/>
        </p:nvSpPr>
        <p:spPr>
          <a:xfrm>
            <a:off x="668083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0" name="Shape 38"/>
          <p:cNvSpPr/>
          <p:nvPr/>
        </p:nvSpPr>
        <p:spPr>
          <a:xfrm>
            <a:off x="718756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9"/>
          <p:cNvSpPr/>
          <p:nvPr/>
        </p:nvSpPr>
        <p:spPr>
          <a:xfrm>
            <a:off x="769429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2" name="Shape 40"/>
          <p:cNvSpPr/>
          <p:nvPr/>
        </p:nvSpPr>
        <p:spPr>
          <a:xfrm>
            <a:off x="820102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41"/>
          <p:cNvSpPr/>
          <p:nvPr/>
        </p:nvSpPr>
        <p:spPr>
          <a:xfrm>
            <a:off x="870775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4" name="Shape 42"/>
          <p:cNvSpPr/>
          <p:nvPr/>
        </p:nvSpPr>
        <p:spPr>
          <a:xfrm>
            <a:off x="921448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43"/>
          <p:cNvSpPr/>
          <p:nvPr/>
        </p:nvSpPr>
        <p:spPr>
          <a:xfrm>
            <a:off x="972121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2794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45"/>
          <p:cNvSpPr/>
          <p:nvPr/>
        </p:nvSpPr>
        <p:spPr>
          <a:xfrm>
            <a:off x="1073467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8" name="Shape 46"/>
          <p:cNvSpPr/>
          <p:nvPr/>
        </p:nvSpPr>
        <p:spPr>
          <a:xfrm>
            <a:off x="11241405" y="6217920"/>
            <a:ext cx="320040" cy="32004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47"/>
          <p:cNvSpPr/>
          <p:nvPr/>
        </p:nvSpPr>
        <p:spPr>
          <a:xfrm>
            <a:off x="11748135" y="6217920"/>
            <a:ext cx="320040" cy="32004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-93345" y="2499360"/>
            <a:ext cx="1216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機智卑南</a:t>
            </a:r>
            <a:endParaRPr lang="en-US" sz="6000" dirty="0"/>
          </a:p>
        </p:txBody>
      </p:sp>
      <p:sp>
        <p:nvSpPr>
          <p:cNvPr id="51" name="Text 49"/>
          <p:cNvSpPr txBox="1"/>
          <p:nvPr/>
        </p:nvSpPr>
        <p:spPr>
          <a:xfrm>
            <a:off x="0" y="3823547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卑南族文化 × 凱比機器人闖關學習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A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229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" name="Shape 2"/>
          <p:cNvSpPr/>
          <p:nvPr/>
        </p:nvSpPr>
        <p:spPr>
          <a:xfrm>
            <a:off x="11296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6363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6498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8" name="Shape 6"/>
          <p:cNvSpPr/>
          <p:nvPr/>
        </p:nvSpPr>
        <p:spPr>
          <a:xfrm>
            <a:off x="31565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36633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0" name="Shape 8"/>
          <p:cNvSpPr/>
          <p:nvPr/>
        </p:nvSpPr>
        <p:spPr>
          <a:xfrm>
            <a:off x="41700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46767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51835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902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69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36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04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171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38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06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73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97440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08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575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642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709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2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229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8" name="Shape 26"/>
          <p:cNvSpPr/>
          <p:nvPr/>
        </p:nvSpPr>
        <p:spPr>
          <a:xfrm>
            <a:off x="11296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9" name="Shape 27"/>
          <p:cNvSpPr/>
          <p:nvPr/>
        </p:nvSpPr>
        <p:spPr>
          <a:xfrm>
            <a:off x="16363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0" name="Shape 28"/>
          <p:cNvSpPr/>
          <p:nvPr/>
        </p:nvSpPr>
        <p:spPr>
          <a:xfrm>
            <a:off x="21431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1" name="Shape 29"/>
          <p:cNvSpPr/>
          <p:nvPr/>
        </p:nvSpPr>
        <p:spPr>
          <a:xfrm>
            <a:off x="26498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2" name="Shape 30"/>
          <p:cNvSpPr/>
          <p:nvPr/>
        </p:nvSpPr>
        <p:spPr>
          <a:xfrm>
            <a:off x="31565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31"/>
          <p:cNvSpPr/>
          <p:nvPr/>
        </p:nvSpPr>
        <p:spPr>
          <a:xfrm>
            <a:off x="36633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4" name="Shape 32"/>
          <p:cNvSpPr/>
          <p:nvPr/>
        </p:nvSpPr>
        <p:spPr>
          <a:xfrm>
            <a:off x="41700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33"/>
          <p:cNvSpPr/>
          <p:nvPr/>
        </p:nvSpPr>
        <p:spPr>
          <a:xfrm>
            <a:off x="46767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6" name="Shape 34"/>
          <p:cNvSpPr/>
          <p:nvPr/>
        </p:nvSpPr>
        <p:spPr>
          <a:xfrm>
            <a:off x="51835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35"/>
          <p:cNvSpPr/>
          <p:nvPr/>
        </p:nvSpPr>
        <p:spPr>
          <a:xfrm>
            <a:off x="56902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8" name="Shape 36"/>
          <p:cNvSpPr/>
          <p:nvPr/>
        </p:nvSpPr>
        <p:spPr>
          <a:xfrm>
            <a:off x="61969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37"/>
          <p:cNvSpPr/>
          <p:nvPr/>
        </p:nvSpPr>
        <p:spPr>
          <a:xfrm>
            <a:off x="67036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0" name="Shape 38"/>
          <p:cNvSpPr/>
          <p:nvPr/>
        </p:nvSpPr>
        <p:spPr>
          <a:xfrm>
            <a:off x="72104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9"/>
          <p:cNvSpPr/>
          <p:nvPr/>
        </p:nvSpPr>
        <p:spPr>
          <a:xfrm>
            <a:off x="77171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2" name="Shape 40"/>
          <p:cNvSpPr/>
          <p:nvPr/>
        </p:nvSpPr>
        <p:spPr>
          <a:xfrm>
            <a:off x="82238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41"/>
          <p:cNvSpPr/>
          <p:nvPr/>
        </p:nvSpPr>
        <p:spPr>
          <a:xfrm>
            <a:off x="87306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4" name="Shape 42"/>
          <p:cNvSpPr/>
          <p:nvPr/>
        </p:nvSpPr>
        <p:spPr>
          <a:xfrm>
            <a:off x="92373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43"/>
          <p:cNvSpPr/>
          <p:nvPr/>
        </p:nvSpPr>
        <p:spPr>
          <a:xfrm>
            <a:off x="97440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508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45"/>
          <p:cNvSpPr/>
          <p:nvPr/>
        </p:nvSpPr>
        <p:spPr>
          <a:xfrm>
            <a:off x="107575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8" name="Shape 46"/>
          <p:cNvSpPr/>
          <p:nvPr/>
        </p:nvSpPr>
        <p:spPr>
          <a:xfrm>
            <a:off x="112642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47"/>
          <p:cNvSpPr/>
          <p:nvPr/>
        </p:nvSpPr>
        <p:spPr>
          <a:xfrm>
            <a:off x="117709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914400" y="292608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3200" dirty="0"/>
          </a:p>
        </p:txBody>
      </p:sp>
      <p:sp>
        <p:nvSpPr>
          <p:cNvPr id="53" name="AutoShape 2" descr="已產生圖像：好奇機器人提問台灣原住民族">
            <a:extLst>
              <a:ext uri="{FF2B5EF4-FFF2-40B4-BE49-F238E27FC236}">
                <a16:creationId xmlns:a16="http://schemas.microsoft.com/office/drawing/2014/main" id="{A7DF6D26-A59F-4D79-93C7-DF6C478E76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317EC743-8983-463F-B63B-FC1EF89EC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20" y="626533"/>
            <a:ext cx="5300133" cy="53001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4805" y="365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2E1D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卑南族在哪裡？</a:t>
            </a:r>
            <a:endParaRPr lang="en-US" sz="3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315200" y="4389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0" name="Shape 27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1" name="Shape 28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2" name="Shape 29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3" name="Shape 30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4" name="Shape 31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5" name="Shape 32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AutoShape 4" descr="台灣東部縱谷地圖插畫">
            <a:extLst>
              <a:ext uri="{FF2B5EF4-FFF2-40B4-BE49-F238E27FC236}">
                <a16:creationId xmlns:a16="http://schemas.microsoft.com/office/drawing/2014/main" id="{7CC4608E-973E-424A-9B80-827345AD87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176867"/>
            <a:ext cx="2404533" cy="240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83D48DA4-433C-4549-93CC-331CD2C0E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855" y="0"/>
            <a:ext cx="483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6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7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1" name="Shape 29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2" name="Shape 30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3" name="Shape 31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5" name="Shape 33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7" name="Shape 35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8" name="Shape 36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9" name="Shape 37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0" name="Shape 38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1" name="Shape 39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2" name="Shape 40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3" name="Shape 41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5" name="Shape 43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6" name="Shape 44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7" name="Shape 45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9" name="Shape 47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51" name="Shape 49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2" name="AutoShape 2">
            <a:extLst>
              <a:ext uri="{FF2B5EF4-FFF2-40B4-BE49-F238E27FC236}">
                <a16:creationId xmlns:a16="http://schemas.microsoft.com/office/drawing/2014/main" id="{3310227E-FB62-455D-A5B0-5ED9C34EEA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E7686605-F77F-4B76-B8F1-10BAE1001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054" y="423333"/>
            <a:ext cx="8051801" cy="5367867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34FEAB67-02EF-41A4-828E-51E7F417E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657" y="385872"/>
            <a:ext cx="1819275" cy="3539174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437A1529-BABB-43C6-9A03-9B13134BE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955" y="1198672"/>
            <a:ext cx="1819275" cy="3539174"/>
          </a:xfrm>
          <a:prstGeom prst="rect">
            <a:avLst/>
          </a:prstGeom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396039DD-A8AB-42AC-A816-513FA798D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1337679"/>
            <a:ext cx="1819275" cy="3362706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7A9E7231-1944-427D-B2B1-69D872D74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765" y="2954866"/>
            <a:ext cx="1819275" cy="2048933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281B5C8F-52DD-49BE-9A69-BCA59E33D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112" y="2235200"/>
            <a:ext cx="1819275" cy="2048933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0A90EF06-B260-408D-837A-6EAADEF6E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721" y="1835112"/>
            <a:ext cx="1819275" cy="2048933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EA74FA78-0A70-4ADD-9E22-C58626441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585" y="1737411"/>
            <a:ext cx="1819275" cy="2048933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3F762FBF-6A81-4B2E-8DD9-F172B7E81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072" y="3180310"/>
            <a:ext cx="1706559" cy="1921988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20B5E96D-E1C6-448D-BA7B-E6D1B0414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727" y="3850328"/>
            <a:ext cx="1313274" cy="1809000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CCF12049-E0B0-4FBE-8656-91537E16D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697" y="3227851"/>
            <a:ext cx="463868" cy="1921988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867C1C83-B92D-4E32-BAE6-EA9AEC798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744" y="3454608"/>
            <a:ext cx="1601739" cy="18039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scro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卑南族名稱由來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卑南族自稱「Pinuyumayan」，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源自南王部落「Puyuma」之名。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近年族人提倡以此作為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族群共同的正式稱呼。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bambo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起源神話——竹生系統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相傳女神將竹子立於地上，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竹節裂開後誕生一男一女神，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成為南王部落的祖先。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竹生系統以南王部落為代表。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st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起源神話——石生系統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相傳巨石裂開後誕生了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人形祖先，因此稱為石生系統。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以知本部落為代表，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利嘉、初鹿等部落亦屬此系統。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A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229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" name="Shape 2"/>
          <p:cNvSpPr/>
          <p:nvPr/>
        </p:nvSpPr>
        <p:spPr>
          <a:xfrm>
            <a:off x="11296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6363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6498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8" name="Shape 6"/>
          <p:cNvSpPr/>
          <p:nvPr/>
        </p:nvSpPr>
        <p:spPr>
          <a:xfrm>
            <a:off x="31565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36633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0" name="Shape 8"/>
          <p:cNvSpPr/>
          <p:nvPr/>
        </p:nvSpPr>
        <p:spPr>
          <a:xfrm>
            <a:off x="41700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46767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51835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902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69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36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04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171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38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06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73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97440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08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575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642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709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0" y="1051560"/>
            <a:ext cx="1188720" cy="11887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0" descr="icon_c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80160"/>
            <a:ext cx="731520" cy="73152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097280" y="2560320"/>
            <a:ext cx="9966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700" b="1" i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十七世紀卑南族聲勢達到顛峰，</a:t>
            </a:r>
            <a:endParaRPr lang="en-US" sz="2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700" b="1" i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卑南王曾號令東部七十二個部落</a:t>
            </a:r>
            <a:endParaRPr lang="en-US" sz="2700" dirty="0"/>
          </a:p>
        </p:txBody>
      </p:sp>
      <p:sp>
        <p:nvSpPr>
          <p:cNvPr id="29" name="Text 26"/>
          <p:cNvSpPr txBox="1"/>
          <p:nvPr/>
        </p:nvSpPr>
        <p:spPr>
          <a:xfrm>
            <a:off x="1097280" y="44348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影響力北至花蓮玉里、南至屏東恆春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162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1" name="Shape 28"/>
          <p:cNvSpPr/>
          <p:nvPr/>
        </p:nvSpPr>
        <p:spPr>
          <a:xfrm>
            <a:off x="6229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2" name="Shape 29"/>
          <p:cNvSpPr/>
          <p:nvPr/>
        </p:nvSpPr>
        <p:spPr>
          <a:xfrm>
            <a:off x="11296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30"/>
          <p:cNvSpPr/>
          <p:nvPr/>
        </p:nvSpPr>
        <p:spPr>
          <a:xfrm>
            <a:off x="16363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4" name="Shape 31"/>
          <p:cNvSpPr/>
          <p:nvPr/>
        </p:nvSpPr>
        <p:spPr>
          <a:xfrm>
            <a:off x="21431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32"/>
          <p:cNvSpPr/>
          <p:nvPr/>
        </p:nvSpPr>
        <p:spPr>
          <a:xfrm>
            <a:off x="26498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6" name="Shape 33"/>
          <p:cNvSpPr/>
          <p:nvPr/>
        </p:nvSpPr>
        <p:spPr>
          <a:xfrm>
            <a:off x="31565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34"/>
          <p:cNvSpPr/>
          <p:nvPr/>
        </p:nvSpPr>
        <p:spPr>
          <a:xfrm>
            <a:off x="36633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8" name="Shape 35"/>
          <p:cNvSpPr/>
          <p:nvPr/>
        </p:nvSpPr>
        <p:spPr>
          <a:xfrm>
            <a:off x="41700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36"/>
          <p:cNvSpPr/>
          <p:nvPr/>
        </p:nvSpPr>
        <p:spPr>
          <a:xfrm>
            <a:off x="46767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0" name="Shape 37"/>
          <p:cNvSpPr/>
          <p:nvPr/>
        </p:nvSpPr>
        <p:spPr>
          <a:xfrm>
            <a:off x="51835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8"/>
          <p:cNvSpPr/>
          <p:nvPr/>
        </p:nvSpPr>
        <p:spPr>
          <a:xfrm>
            <a:off x="56902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2" name="Shape 39"/>
          <p:cNvSpPr/>
          <p:nvPr/>
        </p:nvSpPr>
        <p:spPr>
          <a:xfrm>
            <a:off x="61969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40"/>
          <p:cNvSpPr/>
          <p:nvPr/>
        </p:nvSpPr>
        <p:spPr>
          <a:xfrm>
            <a:off x="67036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4" name="Shape 41"/>
          <p:cNvSpPr/>
          <p:nvPr/>
        </p:nvSpPr>
        <p:spPr>
          <a:xfrm>
            <a:off x="72104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42"/>
          <p:cNvSpPr/>
          <p:nvPr/>
        </p:nvSpPr>
        <p:spPr>
          <a:xfrm>
            <a:off x="77171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6" name="Shape 43"/>
          <p:cNvSpPr/>
          <p:nvPr/>
        </p:nvSpPr>
        <p:spPr>
          <a:xfrm>
            <a:off x="82238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44"/>
          <p:cNvSpPr/>
          <p:nvPr/>
        </p:nvSpPr>
        <p:spPr>
          <a:xfrm>
            <a:off x="87306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8" name="Shape 45"/>
          <p:cNvSpPr/>
          <p:nvPr/>
        </p:nvSpPr>
        <p:spPr>
          <a:xfrm>
            <a:off x="92373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46"/>
          <p:cNvSpPr/>
          <p:nvPr/>
        </p:nvSpPr>
        <p:spPr>
          <a:xfrm>
            <a:off x="97440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0" name="Shape 47"/>
          <p:cNvSpPr/>
          <p:nvPr/>
        </p:nvSpPr>
        <p:spPr>
          <a:xfrm>
            <a:off x="102508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1" name="Shape 48"/>
          <p:cNvSpPr/>
          <p:nvPr/>
        </p:nvSpPr>
        <p:spPr>
          <a:xfrm>
            <a:off x="107575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2" name="Shape 49"/>
          <p:cNvSpPr/>
          <p:nvPr/>
        </p:nvSpPr>
        <p:spPr>
          <a:xfrm>
            <a:off x="112642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3" name="Shape 50"/>
          <p:cNvSpPr/>
          <p:nvPr/>
        </p:nvSpPr>
        <p:spPr>
          <a:xfrm>
            <a:off x="117709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vi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嚴謹的年齡階級制度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卑南族社會依年齡分級，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男子須循序完成少年、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青年、成年的訓練。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藉此學習服從、禮節與膽識。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少年會所與巴拉冠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少年進入少年會所接受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體能與生活訓練；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成年後晉級「巴拉冠」青年會所。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完成訓練才具備結婚資格。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mo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猴祭 mangamangayau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每年年底舉行，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是少年年祭的核心活動。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少年持竹製旌旗刺殺草猴，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藉此鍛鍊膽識與紀律。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h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大獵祭 mangayau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緊接猴祭之後舉行，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是男子晉升成年的重要儀式。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青年在山上狩獵，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女子則在山下編織花環等候。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fea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聯合年祭與除喪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大獵祭結束後舉行聯合年祭，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各部落齊聚歌舞同樂。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除喪儀式則用來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慰問當年喪失親人的家庭。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fl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花環文化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出獵前，部落女性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負責編織花環，象徵祝福。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男子狩獵歸來，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會戴上花環迎接凱旋。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d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傳統男子服飾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依年齡階級穿著不同配飾，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如晉級成年時圍上藍色腰帶。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服飾展現身分與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社會階級的象徵意義。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headd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傳統女子頭飾與服飾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女性頭飾與刺繡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展現細膩工藝與美學。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不同場合搭配不同飾品，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呈現卑南族的審美傳統。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傳統家屋建築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傳統聚落以會所為核心，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搭配家屋群聚而居。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建築格局反映了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部落緊密的社會組織。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mu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祭儀歌謠與舞蹈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猴祭、大獵祭都有專屬歌謠，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依身分不同各有曲目。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舞蹈也依場合而異，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如展現英勇的盾牌舞。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7A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229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" name="Shape 2"/>
          <p:cNvSpPr/>
          <p:nvPr/>
        </p:nvSpPr>
        <p:spPr>
          <a:xfrm>
            <a:off x="11296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6363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6498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8" name="Shape 6"/>
          <p:cNvSpPr/>
          <p:nvPr/>
        </p:nvSpPr>
        <p:spPr>
          <a:xfrm>
            <a:off x="31565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36633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0" name="Shape 8"/>
          <p:cNvSpPr/>
          <p:nvPr/>
        </p:nvSpPr>
        <p:spPr>
          <a:xfrm>
            <a:off x="41700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46767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51835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902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69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36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04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171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38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06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73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97440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08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575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642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709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0" y="1051560"/>
            <a:ext cx="1188720" cy="11887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0" descr="icon_mu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80160"/>
            <a:ext cx="731520" cy="73152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097280" y="2560320"/>
            <a:ext cx="9966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700" b="1" i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卑南族孕育了許多知名音樂人，</a:t>
            </a:r>
            <a:endParaRPr lang="en-US" sz="2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700" b="1" i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被譽為「音樂的民族」</a:t>
            </a:r>
            <a:endParaRPr lang="en-US" sz="2700" dirty="0"/>
          </a:p>
        </p:txBody>
      </p:sp>
      <p:sp>
        <p:nvSpPr>
          <p:cNvPr id="29" name="Text 26"/>
          <p:cNvSpPr txBox="1"/>
          <p:nvPr/>
        </p:nvSpPr>
        <p:spPr>
          <a:xfrm>
            <a:off x="1097280" y="44348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陸森寶、胡德夫、張惠妹、陳建年、紀曉君、桑布依……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162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1" name="Shape 28"/>
          <p:cNvSpPr/>
          <p:nvPr/>
        </p:nvSpPr>
        <p:spPr>
          <a:xfrm>
            <a:off x="6229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2" name="Shape 29"/>
          <p:cNvSpPr/>
          <p:nvPr/>
        </p:nvSpPr>
        <p:spPr>
          <a:xfrm>
            <a:off x="11296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30"/>
          <p:cNvSpPr/>
          <p:nvPr/>
        </p:nvSpPr>
        <p:spPr>
          <a:xfrm>
            <a:off x="16363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4" name="Shape 31"/>
          <p:cNvSpPr/>
          <p:nvPr/>
        </p:nvSpPr>
        <p:spPr>
          <a:xfrm>
            <a:off x="21431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32"/>
          <p:cNvSpPr/>
          <p:nvPr/>
        </p:nvSpPr>
        <p:spPr>
          <a:xfrm>
            <a:off x="26498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6" name="Shape 33"/>
          <p:cNvSpPr/>
          <p:nvPr/>
        </p:nvSpPr>
        <p:spPr>
          <a:xfrm>
            <a:off x="31565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34"/>
          <p:cNvSpPr/>
          <p:nvPr/>
        </p:nvSpPr>
        <p:spPr>
          <a:xfrm>
            <a:off x="36633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8" name="Shape 35"/>
          <p:cNvSpPr/>
          <p:nvPr/>
        </p:nvSpPr>
        <p:spPr>
          <a:xfrm>
            <a:off x="41700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36"/>
          <p:cNvSpPr/>
          <p:nvPr/>
        </p:nvSpPr>
        <p:spPr>
          <a:xfrm>
            <a:off x="46767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0" name="Shape 37"/>
          <p:cNvSpPr/>
          <p:nvPr/>
        </p:nvSpPr>
        <p:spPr>
          <a:xfrm>
            <a:off x="51835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8"/>
          <p:cNvSpPr/>
          <p:nvPr/>
        </p:nvSpPr>
        <p:spPr>
          <a:xfrm>
            <a:off x="56902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2" name="Shape 39"/>
          <p:cNvSpPr/>
          <p:nvPr/>
        </p:nvSpPr>
        <p:spPr>
          <a:xfrm>
            <a:off x="61969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40"/>
          <p:cNvSpPr/>
          <p:nvPr/>
        </p:nvSpPr>
        <p:spPr>
          <a:xfrm>
            <a:off x="67036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4" name="Shape 41"/>
          <p:cNvSpPr/>
          <p:nvPr/>
        </p:nvSpPr>
        <p:spPr>
          <a:xfrm>
            <a:off x="72104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42"/>
          <p:cNvSpPr/>
          <p:nvPr/>
        </p:nvSpPr>
        <p:spPr>
          <a:xfrm>
            <a:off x="77171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6" name="Shape 43"/>
          <p:cNvSpPr/>
          <p:nvPr/>
        </p:nvSpPr>
        <p:spPr>
          <a:xfrm>
            <a:off x="82238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44"/>
          <p:cNvSpPr/>
          <p:nvPr/>
        </p:nvSpPr>
        <p:spPr>
          <a:xfrm>
            <a:off x="87306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8" name="Shape 45"/>
          <p:cNvSpPr/>
          <p:nvPr/>
        </p:nvSpPr>
        <p:spPr>
          <a:xfrm>
            <a:off x="92373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46"/>
          <p:cNvSpPr/>
          <p:nvPr/>
        </p:nvSpPr>
        <p:spPr>
          <a:xfrm>
            <a:off x="97440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0" name="Shape 47"/>
          <p:cNvSpPr/>
          <p:nvPr/>
        </p:nvSpPr>
        <p:spPr>
          <a:xfrm>
            <a:off x="102508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1" name="Shape 48"/>
          <p:cNvSpPr/>
          <p:nvPr/>
        </p:nvSpPr>
        <p:spPr>
          <a:xfrm>
            <a:off x="107575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2" name="Shape 49"/>
          <p:cNvSpPr/>
          <p:nvPr/>
        </p:nvSpPr>
        <p:spPr>
          <a:xfrm>
            <a:off x="112642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3" name="Shape 50"/>
          <p:cNvSpPr/>
          <p:nvPr/>
        </p:nvSpPr>
        <p:spPr>
          <a:xfrm>
            <a:off x="117709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fam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母系社會與家庭制度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卑南族偏向母系社會，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家族傳承多以女性為核心。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男子成年後，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常會入贅至妻子家中生活。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la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卑南語與語言復振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卑南語屬於南島語系，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是文化傳承的重要根基。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近年透過族語課程與認證，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積極復振語言活力。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div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傳統信仰與占卜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卑南族相信萬物皆有神靈，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重要活動前會請示神靈。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傳統占卜以鳥占、夢占為主，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用來預測吉凶方向。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we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傳統手工藝——編織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藤編、月桃編織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是重要的生活工藝技術。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這些技藝也隨著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祭典活動代代相傳。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E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423160"/>
            <a:ext cx="2011680" cy="20116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3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文化保存與正名運動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346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族人近年推動以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「Pinuyumayan」作為正式族稱。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透過教育與祭典復振，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持續守護文化根源。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7" name="Shape 4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9" name="Shape 6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1" name="Shape 8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1" name="Shape 18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3" name="Shape 20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9" name="Shape 26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50292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A2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回顧：卑南族文化亮點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71550" y="164592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4" name="Image 0" descr="icon_mo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874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" y="283464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猴祭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011930" y="164592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7" name="Image 1" descr="icon_h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30" y="1874520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77540" y="283464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大獵祭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052310" y="164592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10" name="Image 2" descr="icon_fl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910" y="187452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217920" y="283464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花環文化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10092690" y="164592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13" name="Image 3" descr="icon_dr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1290" y="1874520"/>
            <a:ext cx="640080" cy="640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258300" y="283464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傳統服飾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971550" y="402336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16" name="Image 4" descr="icon_la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150" y="4251960"/>
            <a:ext cx="640080" cy="6400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7160" y="521208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卑南語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011930" y="402336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19" name="Image 5" descr="icon_mus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0530" y="4251960"/>
            <a:ext cx="640080" cy="64008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3177540" y="521208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傳統歌謠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7052310" y="402336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22" name="Image 6" descr="icon_wea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0910" y="4251960"/>
            <a:ext cx="640080" cy="64008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217920" y="521208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傳統工藝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10092690" y="4023360"/>
            <a:ext cx="1097280" cy="1097280"/>
          </a:xfrm>
          <a:prstGeom prst="ellipse">
            <a:avLst/>
          </a:prstGeom>
          <a:solidFill>
            <a:srgbClr val="7A2E1D"/>
          </a:solidFill>
          <a:ln/>
        </p:spPr>
      </p:sp>
      <p:pic>
        <p:nvPicPr>
          <p:cNvPr id="25" name="Image 7" descr="icon_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1290" y="4251960"/>
            <a:ext cx="640080" cy="6400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9258300" y="521208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正名運動</a:t>
            </a:r>
            <a:endParaRPr lang="en-US" sz="1400" dirty="0"/>
          </a:p>
        </p:txBody>
      </p:sp>
      <p:sp>
        <p:nvSpPr>
          <p:cNvPr id="27" name="Shape 17"/>
          <p:cNvSpPr/>
          <p:nvPr/>
        </p:nvSpPr>
        <p:spPr>
          <a:xfrm>
            <a:off x="1619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28" name="Shape 18"/>
          <p:cNvSpPr/>
          <p:nvPr/>
        </p:nvSpPr>
        <p:spPr>
          <a:xfrm>
            <a:off x="6686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9" name="Shape 19"/>
          <p:cNvSpPr/>
          <p:nvPr/>
        </p:nvSpPr>
        <p:spPr>
          <a:xfrm>
            <a:off x="11753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0" name="Shape 20"/>
          <p:cNvSpPr/>
          <p:nvPr/>
        </p:nvSpPr>
        <p:spPr>
          <a:xfrm>
            <a:off x="16821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1" name="Shape 21"/>
          <p:cNvSpPr/>
          <p:nvPr/>
        </p:nvSpPr>
        <p:spPr>
          <a:xfrm>
            <a:off x="21888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2" name="Shape 22"/>
          <p:cNvSpPr/>
          <p:nvPr/>
        </p:nvSpPr>
        <p:spPr>
          <a:xfrm>
            <a:off x="26955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23"/>
          <p:cNvSpPr/>
          <p:nvPr/>
        </p:nvSpPr>
        <p:spPr>
          <a:xfrm>
            <a:off x="32023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4" name="Shape 24"/>
          <p:cNvSpPr/>
          <p:nvPr/>
        </p:nvSpPr>
        <p:spPr>
          <a:xfrm>
            <a:off x="37090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25"/>
          <p:cNvSpPr/>
          <p:nvPr/>
        </p:nvSpPr>
        <p:spPr>
          <a:xfrm>
            <a:off x="42157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6" name="Shape 26"/>
          <p:cNvSpPr/>
          <p:nvPr/>
        </p:nvSpPr>
        <p:spPr>
          <a:xfrm>
            <a:off x="47224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27"/>
          <p:cNvSpPr/>
          <p:nvPr/>
        </p:nvSpPr>
        <p:spPr>
          <a:xfrm>
            <a:off x="52292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38" name="Shape 28"/>
          <p:cNvSpPr/>
          <p:nvPr/>
        </p:nvSpPr>
        <p:spPr>
          <a:xfrm>
            <a:off x="57359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29"/>
          <p:cNvSpPr/>
          <p:nvPr/>
        </p:nvSpPr>
        <p:spPr>
          <a:xfrm>
            <a:off x="62426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0" name="Shape 30"/>
          <p:cNvSpPr/>
          <p:nvPr/>
        </p:nvSpPr>
        <p:spPr>
          <a:xfrm>
            <a:off x="67494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1"/>
          <p:cNvSpPr/>
          <p:nvPr/>
        </p:nvSpPr>
        <p:spPr>
          <a:xfrm>
            <a:off x="725614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2" name="Shape 32"/>
          <p:cNvSpPr/>
          <p:nvPr/>
        </p:nvSpPr>
        <p:spPr>
          <a:xfrm>
            <a:off x="776287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33"/>
          <p:cNvSpPr/>
          <p:nvPr/>
        </p:nvSpPr>
        <p:spPr>
          <a:xfrm>
            <a:off x="826960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4" name="Shape 34"/>
          <p:cNvSpPr/>
          <p:nvPr/>
        </p:nvSpPr>
        <p:spPr>
          <a:xfrm>
            <a:off x="877633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35"/>
          <p:cNvSpPr/>
          <p:nvPr/>
        </p:nvSpPr>
        <p:spPr>
          <a:xfrm>
            <a:off x="928306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6" name="Shape 36"/>
          <p:cNvSpPr/>
          <p:nvPr/>
        </p:nvSpPr>
        <p:spPr>
          <a:xfrm>
            <a:off x="978979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37"/>
          <p:cNvSpPr/>
          <p:nvPr/>
        </p:nvSpPr>
        <p:spPr>
          <a:xfrm>
            <a:off x="1029652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48" name="Shape 38"/>
          <p:cNvSpPr/>
          <p:nvPr/>
        </p:nvSpPr>
        <p:spPr>
          <a:xfrm>
            <a:off x="1080325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39"/>
          <p:cNvSpPr/>
          <p:nvPr/>
        </p:nvSpPr>
        <p:spPr>
          <a:xfrm>
            <a:off x="11309985" y="6400800"/>
            <a:ext cx="182880" cy="182880"/>
          </a:xfrm>
          <a:prstGeom prst="diamond">
            <a:avLst/>
          </a:prstGeom>
          <a:solidFill>
            <a:srgbClr val="7A2E1D"/>
          </a:solidFill>
          <a:ln/>
        </p:spPr>
      </p:sp>
      <p:sp>
        <p:nvSpPr>
          <p:cNvPr id="50" name="Shape 40"/>
          <p:cNvSpPr/>
          <p:nvPr/>
        </p:nvSpPr>
        <p:spPr>
          <a:xfrm>
            <a:off x="11816715" y="6400800"/>
            <a:ext cx="182880" cy="182880"/>
          </a:xfrm>
          <a:prstGeom prst="diamond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7A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6229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" name="Shape 2"/>
          <p:cNvSpPr/>
          <p:nvPr/>
        </p:nvSpPr>
        <p:spPr>
          <a:xfrm>
            <a:off x="11296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6363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6498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8" name="Shape 6"/>
          <p:cNvSpPr/>
          <p:nvPr/>
        </p:nvSpPr>
        <p:spPr>
          <a:xfrm>
            <a:off x="31565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36633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0" name="Shape 8"/>
          <p:cNvSpPr/>
          <p:nvPr/>
        </p:nvSpPr>
        <p:spPr>
          <a:xfrm>
            <a:off x="41700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46767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2" name="Shape 10"/>
          <p:cNvSpPr/>
          <p:nvPr/>
        </p:nvSpPr>
        <p:spPr>
          <a:xfrm>
            <a:off x="51835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6902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69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36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042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1715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388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061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734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974407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080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5753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64265" y="3200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70995" y="3200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26" name="Shape 24"/>
          <p:cNvSpPr/>
          <p:nvPr/>
        </p:nvSpPr>
        <p:spPr>
          <a:xfrm>
            <a:off x="5257800" y="1417320"/>
            <a:ext cx="1645920" cy="1645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0" descr="ico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737360"/>
            <a:ext cx="1005840" cy="100584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0" y="324612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E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接下來...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0" y="374904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讓凱比帶你認識卑南語！</a:t>
            </a:r>
            <a:endParaRPr lang="en-US" sz="4000" dirty="0"/>
          </a:p>
        </p:txBody>
      </p:sp>
      <p:sp>
        <p:nvSpPr>
          <p:cNvPr id="30" name="Shape 27"/>
          <p:cNvSpPr/>
          <p:nvPr/>
        </p:nvSpPr>
        <p:spPr>
          <a:xfrm>
            <a:off x="4800600" y="4892040"/>
            <a:ext cx="2560320" cy="594360"/>
          </a:xfrm>
          <a:prstGeom prst="roundRect">
            <a:avLst>
              <a:gd name="adj" fmla="val 49231"/>
            </a:avLst>
          </a:prstGeom>
          <a:solidFill>
            <a:srgbClr val="C9A227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800600" y="4892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闖關開始 →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162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3" name="Shape 30"/>
          <p:cNvSpPr/>
          <p:nvPr/>
        </p:nvSpPr>
        <p:spPr>
          <a:xfrm>
            <a:off x="6229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4" name="Shape 31"/>
          <p:cNvSpPr/>
          <p:nvPr/>
        </p:nvSpPr>
        <p:spPr>
          <a:xfrm>
            <a:off x="11296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5" name="Shape 32"/>
          <p:cNvSpPr/>
          <p:nvPr/>
        </p:nvSpPr>
        <p:spPr>
          <a:xfrm>
            <a:off x="16363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6" name="Shape 33"/>
          <p:cNvSpPr/>
          <p:nvPr/>
        </p:nvSpPr>
        <p:spPr>
          <a:xfrm>
            <a:off x="21431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7" name="Shape 34"/>
          <p:cNvSpPr/>
          <p:nvPr/>
        </p:nvSpPr>
        <p:spPr>
          <a:xfrm>
            <a:off x="26498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38" name="Shape 35"/>
          <p:cNvSpPr/>
          <p:nvPr/>
        </p:nvSpPr>
        <p:spPr>
          <a:xfrm>
            <a:off x="31565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39" name="Shape 36"/>
          <p:cNvSpPr/>
          <p:nvPr/>
        </p:nvSpPr>
        <p:spPr>
          <a:xfrm>
            <a:off x="36633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0" name="Shape 37"/>
          <p:cNvSpPr/>
          <p:nvPr/>
        </p:nvSpPr>
        <p:spPr>
          <a:xfrm>
            <a:off x="41700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1" name="Shape 38"/>
          <p:cNvSpPr/>
          <p:nvPr/>
        </p:nvSpPr>
        <p:spPr>
          <a:xfrm>
            <a:off x="46767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2" name="Shape 39"/>
          <p:cNvSpPr/>
          <p:nvPr/>
        </p:nvSpPr>
        <p:spPr>
          <a:xfrm>
            <a:off x="51835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3" name="Shape 40"/>
          <p:cNvSpPr/>
          <p:nvPr/>
        </p:nvSpPr>
        <p:spPr>
          <a:xfrm>
            <a:off x="56902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4" name="Shape 41"/>
          <p:cNvSpPr/>
          <p:nvPr/>
        </p:nvSpPr>
        <p:spPr>
          <a:xfrm>
            <a:off x="61969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5" name="Shape 42"/>
          <p:cNvSpPr/>
          <p:nvPr/>
        </p:nvSpPr>
        <p:spPr>
          <a:xfrm>
            <a:off x="67036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6" name="Shape 43"/>
          <p:cNvSpPr/>
          <p:nvPr/>
        </p:nvSpPr>
        <p:spPr>
          <a:xfrm>
            <a:off x="721042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7" name="Shape 44"/>
          <p:cNvSpPr/>
          <p:nvPr/>
        </p:nvSpPr>
        <p:spPr>
          <a:xfrm>
            <a:off x="771715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48" name="Shape 45"/>
          <p:cNvSpPr/>
          <p:nvPr/>
        </p:nvSpPr>
        <p:spPr>
          <a:xfrm>
            <a:off x="822388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9" name="Shape 46"/>
          <p:cNvSpPr/>
          <p:nvPr/>
        </p:nvSpPr>
        <p:spPr>
          <a:xfrm>
            <a:off x="873061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0" name="Shape 47"/>
          <p:cNvSpPr/>
          <p:nvPr/>
        </p:nvSpPr>
        <p:spPr>
          <a:xfrm>
            <a:off x="923734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1" name="Shape 48"/>
          <p:cNvSpPr/>
          <p:nvPr/>
        </p:nvSpPr>
        <p:spPr>
          <a:xfrm>
            <a:off x="974407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2" name="Shape 49"/>
          <p:cNvSpPr/>
          <p:nvPr/>
        </p:nvSpPr>
        <p:spPr>
          <a:xfrm>
            <a:off x="1025080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3" name="Shape 50"/>
          <p:cNvSpPr/>
          <p:nvPr/>
        </p:nvSpPr>
        <p:spPr>
          <a:xfrm>
            <a:off x="1075753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  <p:sp>
        <p:nvSpPr>
          <p:cNvPr id="54" name="Shape 51"/>
          <p:cNvSpPr/>
          <p:nvPr/>
        </p:nvSpPr>
        <p:spPr>
          <a:xfrm>
            <a:off x="11264265" y="6263640"/>
            <a:ext cx="274320" cy="274320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5" name="Shape 52"/>
          <p:cNvSpPr/>
          <p:nvPr/>
        </p:nvSpPr>
        <p:spPr>
          <a:xfrm>
            <a:off x="11770995" y="6263640"/>
            <a:ext cx="274320" cy="274320"/>
          </a:xfrm>
          <a:prstGeom prst="diamond">
            <a:avLst/>
          </a:prstGeom>
          <a:solidFill>
            <a:srgbClr val="F2E4C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275</Words>
  <Application>Microsoft Office PowerPoint</Application>
  <PresentationFormat>寬螢幕</PresentationFormat>
  <Paragraphs>156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Cascadia Code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8</cp:revision>
  <dcterms:created xsi:type="dcterms:W3CDTF">2026-08-30T08:39:01Z</dcterms:created>
  <dcterms:modified xsi:type="dcterms:W3CDTF">2026-09-01T09:33:00Z</dcterms:modified>
</cp:coreProperties>
</file>