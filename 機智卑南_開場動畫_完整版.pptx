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36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8309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教師口白：好，剛剛我們認識了卑南族豐富的文化，接下來讓凱比機器人帶大家一起學習卑南語，準備好了嗎？出發闖關！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9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20.png"/><Relationship Id="rId4" Type="http://schemas.openxmlformats.org/officeDocument/2006/relationships/image" Target="../media/image10.png"/><Relationship Id="rId9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2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345" y="32004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600075" y="32004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" name="Shape 2"/>
          <p:cNvSpPr/>
          <p:nvPr/>
        </p:nvSpPr>
        <p:spPr>
          <a:xfrm>
            <a:off x="1106805" y="32004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1613535" y="32004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6" name="Shape 4"/>
          <p:cNvSpPr/>
          <p:nvPr/>
        </p:nvSpPr>
        <p:spPr>
          <a:xfrm>
            <a:off x="2120265" y="32004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2626995" y="32004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8" name="Shape 6"/>
          <p:cNvSpPr/>
          <p:nvPr/>
        </p:nvSpPr>
        <p:spPr>
          <a:xfrm>
            <a:off x="3133725" y="32004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9" name="Shape 7"/>
          <p:cNvSpPr/>
          <p:nvPr/>
        </p:nvSpPr>
        <p:spPr>
          <a:xfrm>
            <a:off x="3640455" y="32004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0" name="Shape 8"/>
          <p:cNvSpPr/>
          <p:nvPr/>
        </p:nvSpPr>
        <p:spPr>
          <a:xfrm>
            <a:off x="4147185" y="32004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1" name="Shape 9"/>
          <p:cNvSpPr/>
          <p:nvPr/>
        </p:nvSpPr>
        <p:spPr>
          <a:xfrm>
            <a:off x="4653915" y="32004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2" name="Shape 10"/>
          <p:cNvSpPr/>
          <p:nvPr/>
        </p:nvSpPr>
        <p:spPr>
          <a:xfrm>
            <a:off x="5160645" y="32004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7375" y="32004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4" name="Shape 12"/>
          <p:cNvSpPr/>
          <p:nvPr/>
        </p:nvSpPr>
        <p:spPr>
          <a:xfrm>
            <a:off x="6174105" y="32004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5" name="Shape 13"/>
          <p:cNvSpPr/>
          <p:nvPr/>
        </p:nvSpPr>
        <p:spPr>
          <a:xfrm>
            <a:off x="6680835" y="32004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6" name="Shape 14"/>
          <p:cNvSpPr/>
          <p:nvPr/>
        </p:nvSpPr>
        <p:spPr>
          <a:xfrm>
            <a:off x="7187565" y="32004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7" name="Shape 15"/>
          <p:cNvSpPr/>
          <p:nvPr/>
        </p:nvSpPr>
        <p:spPr>
          <a:xfrm>
            <a:off x="7694295" y="32004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8" name="Shape 16"/>
          <p:cNvSpPr/>
          <p:nvPr/>
        </p:nvSpPr>
        <p:spPr>
          <a:xfrm>
            <a:off x="8201025" y="32004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9" name="Shape 17"/>
          <p:cNvSpPr/>
          <p:nvPr/>
        </p:nvSpPr>
        <p:spPr>
          <a:xfrm>
            <a:off x="8707755" y="32004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0" name="Shape 18"/>
          <p:cNvSpPr/>
          <p:nvPr/>
        </p:nvSpPr>
        <p:spPr>
          <a:xfrm>
            <a:off x="9214485" y="32004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1" name="Shape 19"/>
          <p:cNvSpPr/>
          <p:nvPr/>
        </p:nvSpPr>
        <p:spPr>
          <a:xfrm>
            <a:off x="9721215" y="32004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27945" y="32004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3" name="Shape 21"/>
          <p:cNvSpPr/>
          <p:nvPr/>
        </p:nvSpPr>
        <p:spPr>
          <a:xfrm>
            <a:off x="10734675" y="32004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4" name="Shape 22"/>
          <p:cNvSpPr/>
          <p:nvPr/>
        </p:nvSpPr>
        <p:spPr>
          <a:xfrm>
            <a:off x="11241405" y="32004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5" name="Shape 23"/>
          <p:cNvSpPr/>
          <p:nvPr/>
        </p:nvSpPr>
        <p:spPr>
          <a:xfrm>
            <a:off x="11748135" y="32004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6" name="Shape 24"/>
          <p:cNvSpPr/>
          <p:nvPr/>
        </p:nvSpPr>
        <p:spPr>
          <a:xfrm>
            <a:off x="93345" y="621792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7" name="Shape 25"/>
          <p:cNvSpPr/>
          <p:nvPr/>
        </p:nvSpPr>
        <p:spPr>
          <a:xfrm>
            <a:off x="600075" y="621792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8" name="Shape 26"/>
          <p:cNvSpPr/>
          <p:nvPr/>
        </p:nvSpPr>
        <p:spPr>
          <a:xfrm>
            <a:off x="1106805" y="621792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9" name="Shape 27"/>
          <p:cNvSpPr/>
          <p:nvPr/>
        </p:nvSpPr>
        <p:spPr>
          <a:xfrm>
            <a:off x="1613535" y="621792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0" name="Shape 28"/>
          <p:cNvSpPr/>
          <p:nvPr/>
        </p:nvSpPr>
        <p:spPr>
          <a:xfrm>
            <a:off x="2120265" y="621792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1" name="Shape 29"/>
          <p:cNvSpPr/>
          <p:nvPr/>
        </p:nvSpPr>
        <p:spPr>
          <a:xfrm>
            <a:off x="2626995" y="621792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2" name="Shape 30"/>
          <p:cNvSpPr/>
          <p:nvPr/>
        </p:nvSpPr>
        <p:spPr>
          <a:xfrm>
            <a:off x="3133725" y="621792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3" name="Shape 31"/>
          <p:cNvSpPr/>
          <p:nvPr/>
        </p:nvSpPr>
        <p:spPr>
          <a:xfrm>
            <a:off x="3640455" y="621792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4" name="Shape 32"/>
          <p:cNvSpPr/>
          <p:nvPr/>
        </p:nvSpPr>
        <p:spPr>
          <a:xfrm>
            <a:off x="4147185" y="621792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5" name="Shape 33"/>
          <p:cNvSpPr/>
          <p:nvPr/>
        </p:nvSpPr>
        <p:spPr>
          <a:xfrm>
            <a:off x="4653915" y="621792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6" name="Shape 34"/>
          <p:cNvSpPr/>
          <p:nvPr/>
        </p:nvSpPr>
        <p:spPr>
          <a:xfrm>
            <a:off x="5160645" y="621792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7" name="Shape 35"/>
          <p:cNvSpPr/>
          <p:nvPr/>
        </p:nvSpPr>
        <p:spPr>
          <a:xfrm>
            <a:off x="5667375" y="621792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8" name="Shape 36"/>
          <p:cNvSpPr/>
          <p:nvPr/>
        </p:nvSpPr>
        <p:spPr>
          <a:xfrm>
            <a:off x="6174105" y="621792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9" name="Shape 37"/>
          <p:cNvSpPr/>
          <p:nvPr/>
        </p:nvSpPr>
        <p:spPr>
          <a:xfrm>
            <a:off x="6680835" y="621792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0" name="Shape 38"/>
          <p:cNvSpPr/>
          <p:nvPr/>
        </p:nvSpPr>
        <p:spPr>
          <a:xfrm>
            <a:off x="7187565" y="621792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1" name="Shape 39"/>
          <p:cNvSpPr/>
          <p:nvPr/>
        </p:nvSpPr>
        <p:spPr>
          <a:xfrm>
            <a:off x="7694295" y="621792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2" name="Shape 40"/>
          <p:cNvSpPr/>
          <p:nvPr/>
        </p:nvSpPr>
        <p:spPr>
          <a:xfrm>
            <a:off x="8201025" y="621792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3" name="Shape 41"/>
          <p:cNvSpPr/>
          <p:nvPr/>
        </p:nvSpPr>
        <p:spPr>
          <a:xfrm>
            <a:off x="8707755" y="621792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4" name="Shape 42"/>
          <p:cNvSpPr/>
          <p:nvPr/>
        </p:nvSpPr>
        <p:spPr>
          <a:xfrm>
            <a:off x="9214485" y="621792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5" name="Shape 43"/>
          <p:cNvSpPr/>
          <p:nvPr/>
        </p:nvSpPr>
        <p:spPr>
          <a:xfrm>
            <a:off x="9721215" y="621792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6" name="Shape 44"/>
          <p:cNvSpPr/>
          <p:nvPr/>
        </p:nvSpPr>
        <p:spPr>
          <a:xfrm>
            <a:off x="10227945" y="621792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7" name="Shape 45"/>
          <p:cNvSpPr/>
          <p:nvPr/>
        </p:nvSpPr>
        <p:spPr>
          <a:xfrm>
            <a:off x="10734675" y="621792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8" name="Shape 46"/>
          <p:cNvSpPr/>
          <p:nvPr/>
        </p:nvSpPr>
        <p:spPr>
          <a:xfrm>
            <a:off x="11241405" y="621792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9" name="Shape 47"/>
          <p:cNvSpPr/>
          <p:nvPr/>
        </p:nvSpPr>
        <p:spPr>
          <a:xfrm>
            <a:off x="11748135" y="621792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0" y="1965960"/>
            <a:ext cx="1216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2E4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機智卑南</a:t>
            </a:r>
            <a:endParaRPr lang="en-US" sz="6000" dirty="0"/>
          </a:p>
        </p:txBody>
      </p:sp>
      <p:sp>
        <p:nvSpPr>
          <p:cNvPr id="51" name="Text 49"/>
          <p:cNvSpPr txBox="1"/>
          <p:nvPr/>
        </p:nvSpPr>
        <p:spPr>
          <a:xfrm>
            <a:off x="0" y="315468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卑南族文化 × 凱比機器人闖關學習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7A2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0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62293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" name="Shape 2"/>
          <p:cNvSpPr/>
          <p:nvPr/>
        </p:nvSpPr>
        <p:spPr>
          <a:xfrm>
            <a:off x="112966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163639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6" name="Shape 4"/>
          <p:cNvSpPr/>
          <p:nvPr/>
        </p:nvSpPr>
        <p:spPr>
          <a:xfrm>
            <a:off x="214312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264985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8" name="Shape 6"/>
          <p:cNvSpPr/>
          <p:nvPr/>
        </p:nvSpPr>
        <p:spPr>
          <a:xfrm>
            <a:off x="315658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9" name="Shape 7"/>
          <p:cNvSpPr/>
          <p:nvPr/>
        </p:nvSpPr>
        <p:spPr>
          <a:xfrm>
            <a:off x="366331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0" name="Shape 8"/>
          <p:cNvSpPr/>
          <p:nvPr/>
        </p:nvSpPr>
        <p:spPr>
          <a:xfrm>
            <a:off x="417004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1" name="Shape 9"/>
          <p:cNvSpPr/>
          <p:nvPr/>
        </p:nvSpPr>
        <p:spPr>
          <a:xfrm>
            <a:off x="467677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2" name="Shape 10"/>
          <p:cNvSpPr/>
          <p:nvPr/>
        </p:nvSpPr>
        <p:spPr>
          <a:xfrm>
            <a:off x="518350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3" name="Shape 11"/>
          <p:cNvSpPr/>
          <p:nvPr/>
        </p:nvSpPr>
        <p:spPr>
          <a:xfrm>
            <a:off x="569023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4" name="Shape 12"/>
          <p:cNvSpPr/>
          <p:nvPr/>
        </p:nvSpPr>
        <p:spPr>
          <a:xfrm>
            <a:off x="619696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5" name="Shape 13"/>
          <p:cNvSpPr/>
          <p:nvPr/>
        </p:nvSpPr>
        <p:spPr>
          <a:xfrm>
            <a:off x="670369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6" name="Shape 14"/>
          <p:cNvSpPr/>
          <p:nvPr/>
        </p:nvSpPr>
        <p:spPr>
          <a:xfrm>
            <a:off x="721042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7" name="Shape 15"/>
          <p:cNvSpPr/>
          <p:nvPr/>
        </p:nvSpPr>
        <p:spPr>
          <a:xfrm>
            <a:off x="771715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388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9" name="Shape 17"/>
          <p:cNvSpPr/>
          <p:nvPr/>
        </p:nvSpPr>
        <p:spPr>
          <a:xfrm>
            <a:off x="873061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0" name="Shape 18"/>
          <p:cNvSpPr/>
          <p:nvPr/>
        </p:nvSpPr>
        <p:spPr>
          <a:xfrm>
            <a:off x="923734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1" name="Shape 19"/>
          <p:cNvSpPr/>
          <p:nvPr/>
        </p:nvSpPr>
        <p:spPr>
          <a:xfrm>
            <a:off x="974407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5080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3" name="Shape 21"/>
          <p:cNvSpPr/>
          <p:nvPr/>
        </p:nvSpPr>
        <p:spPr>
          <a:xfrm>
            <a:off x="1075753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4" name="Shape 22"/>
          <p:cNvSpPr/>
          <p:nvPr/>
        </p:nvSpPr>
        <p:spPr>
          <a:xfrm>
            <a:off x="1126426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5" name="Shape 23"/>
          <p:cNvSpPr/>
          <p:nvPr/>
        </p:nvSpPr>
        <p:spPr>
          <a:xfrm>
            <a:off x="1177099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6" name="Shape 24"/>
          <p:cNvSpPr/>
          <p:nvPr/>
        </p:nvSpPr>
        <p:spPr>
          <a:xfrm>
            <a:off x="11620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7" name="Shape 25"/>
          <p:cNvSpPr/>
          <p:nvPr/>
        </p:nvSpPr>
        <p:spPr>
          <a:xfrm>
            <a:off x="62293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8" name="Shape 26"/>
          <p:cNvSpPr/>
          <p:nvPr/>
        </p:nvSpPr>
        <p:spPr>
          <a:xfrm>
            <a:off x="112966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9" name="Shape 27"/>
          <p:cNvSpPr/>
          <p:nvPr/>
        </p:nvSpPr>
        <p:spPr>
          <a:xfrm>
            <a:off x="163639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0" name="Shape 28"/>
          <p:cNvSpPr/>
          <p:nvPr/>
        </p:nvSpPr>
        <p:spPr>
          <a:xfrm>
            <a:off x="214312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1" name="Shape 29"/>
          <p:cNvSpPr/>
          <p:nvPr/>
        </p:nvSpPr>
        <p:spPr>
          <a:xfrm>
            <a:off x="264985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2" name="Shape 30"/>
          <p:cNvSpPr/>
          <p:nvPr/>
        </p:nvSpPr>
        <p:spPr>
          <a:xfrm>
            <a:off x="315658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3" name="Shape 31"/>
          <p:cNvSpPr/>
          <p:nvPr/>
        </p:nvSpPr>
        <p:spPr>
          <a:xfrm>
            <a:off x="366331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4" name="Shape 32"/>
          <p:cNvSpPr/>
          <p:nvPr/>
        </p:nvSpPr>
        <p:spPr>
          <a:xfrm>
            <a:off x="417004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5" name="Shape 33"/>
          <p:cNvSpPr/>
          <p:nvPr/>
        </p:nvSpPr>
        <p:spPr>
          <a:xfrm>
            <a:off x="467677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6" name="Shape 34"/>
          <p:cNvSpPr/>
          <p:nvPr/>
        </p:nvSpPr>
        <p:spPr>
          <a:xfrm>
            <a:off x="518350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7" name="Shape 35"/>
          <p:cNvSpPr/>
          <p:nvPr/>
        </p:nvSpPr>
        <p:spPr>
          <a:xfrm>
            <a:off x="569023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8" name="Shape 36"/>
          <p:cNvSpPr/>
          <p:nvPr/>
        </p:nvSpPr>
        <p:spPr>
          <a:xfrm>
            <a:off x="619696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9" name="Shape 37"/>
          <p:cNvSpPr/>
          <p:nvPr/>
        </p:nvSpPr>
        <p:spPr>
          <a:xfrm>
            <a:off x="670369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0" name="Shape 38"/>
          <p:cNvSpPr/>
          <p:nvPr/>
        </p:nvSpPr>
        <p:spPr>
          <a:xfrm>
            <a:off x="721042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1" name="Shape 39"/>
          <p:cNvSpPr/>
          <p:nvPr/>
        </p:nvSpPr>
        <p:spPr>
          <a:xfrm>
            <a:off x="771715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2" name="Shape 40"/>
          <p:cNvSpPr/>
          <p:nvPr/>
        </p:nvSpPr>
        <p:spPr>
          <a:xfrm>
            <a:off x="822388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3" name="Shape 41"/>
          <p:cNvSpPr/>
          <p:nvPr/>
        </p:nvSpPr>
        <p:spPr>
          <a:xfrm>
            <a:off x="873061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4" name="Shape 42"/>
          <p:cNvSpPr/>
          <p:nvPr/>
        </p:nvSpPr>
        <p:spPr>
          <a:xfrm>
            <a:off x="923734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5" name="Shape 43"/>
          <p:cNvSpPr/>
          <p:nvPr/>
        </p:nvSpPr>
        <p:spPr>
          <a:xfrm>
            <a:off x="974407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6" name="Shape 44"/>
          <p:cNvSpPr/>
          <p:nvPr/>
        </p:nvSpPr>
        <p:spPr>
          <a:xfrm>
            <a:off x="1025080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7" name="Shape 45"/>
          <p:cNvSpPr/>
          <p:nvPr/>
        </p:nvSpPr>
        <p:spPr>
          <a:xfrm>
            <a:off x="1075753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8" name="Shape 46"/>
          <p:cNvSpPr/>
          <p:nvPr/>
        </p:nvSpPr>
        <p:spPr>
          <a:xfrm>
            <a:off x="1126426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9" name="Shape 47"/>
          <p:cNvSpPr/>
          <p:nvPr/>
        </p:nvSpPr>
        <p:spPr>
          <a:xfrm>
            <a:off x="1177099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50" name="Shape 48"/>
          <p:cNvSpPr/>
          <p:nvPr/>
        </p:nvSpPr>
        <p:spPr>
          <a:xfrm>
            <a:off x="5440680" y="1371600"/>
            <a:ext cx="1280160" cy="12801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1" name="Image 0" descr="icon_peo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1627632"/>
            <a:ext cx="768096" cy="768096"/>
          </a:xfrm>
          <a:prstGeom prst="rect">
            <a:avLst/>
          </a:prstGeom>
        </p:spPr>
      </p:pic>
      <p:sp>
        <p:nvSpPr>
          <p:cNvPr id="52" name="Text 49"/>
          <p:cNvSpPr txBox="1"/>
          <p:nvPr/>
        </p:nvSpPr>
        <p:spPr>
          <a:xfrm>
            <a:off x="914400" y="2926080"/>
            <a:ext cx="10332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F2E4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你聽過台灣原住民族嗎？</a:t>
            </a:r>
            <a:endParaRPr lang="en-US" sz="3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F2E4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你知道卑南族住在哪裡嗎？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4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卑南族在哪裡？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6035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位於台東縱谷平原一帶，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為台灣原住民族群之一。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主要居住於台東市與卑南鄉，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偏向母系社會，人口約一萬五千人。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0" y="1463040"/>
            <a:ext cx="4297680" cy="402336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23960" y="1783080"/>
            <a:ext cx="1280160" cy="128016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6" name="Image 0" descr="icon_g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011680"/>
            <a:ext cx="822960" cy="8229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0" y="32461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台東縣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315200" y="3749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卑南族主要分佈地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0" y="4251960"/>
            <a:ext cx="338328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0" y="43891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7315200" y="5120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大傳統部落（大社）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0" name="Shape 27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31" name="Shape 28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2" name="Shape 29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33" name="Shape 30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4" name="Shape 31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35" name="Shape 32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4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卑南族的部落分布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舊稱「八社蕃」，至今仍保有完整的部落組織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62556"/>
            <a:ext cx="201168" cy="201168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25880" y="187452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知本部落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309360" y="1874520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0" y="2162556"/>
            <a:ext cx="201168" cy="201168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995160" y="187452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建和部落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2907792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195828"/>
            <a:ext cx="201168" cy="201168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325880" y="290779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南王部落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309360" y="2907792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0" y="3195828"/>
            <a:ext cx="201168" cy="201168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995160" y="290779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寶桑部落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3941064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4229100"/>
            <a:ext cx="201168" cy="201168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325880" y="3941064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利嘉部落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309360" y="3941064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4229100"/>
            <a:ext cx="201168" cy="201168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95160" y="3941064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泰安部落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40080" y="4974336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" y="5262372"/>
            <a:ext cx="201168" cy="201168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325880" y="4974336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上／下賓朗部落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309360" y="4974336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83680" y="5262372"/>
            <a:ext cx="201168" cy="201168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995160" y="4974336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初鹿部落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7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0" name="Shape 28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31" name="Shape 29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2" name="Shape 30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33" name="Shape 31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4" name="Shape 32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35" name="Shape 33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6" name="Shape 34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37" name="Shape 35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8" name="Shape 36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39" name="Shape 37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0" name="Shape 38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41" name="Shape 39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2" name="Shape 40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43" name="Shape 41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4" name="Shape 42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45" name="Shape 43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6" name="Shape 44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47" name="Shape 45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8" name="Shape 46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49" name="Shape 47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50" name="Shape 48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51" name="Shape 49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4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423160"/>
            <a:ext cx="2011680" cy="20116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3" name="Image 0" descr="icon_scro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926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0" y="1965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卑南族名稱由來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3657600" y="28346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卑南族自稱「Pinuyumayan」，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源自南王部落「Puyuma」之名。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近年族人提倡以此作為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族群共同的正式稱呼。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7" name="Shape 4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9" name="Shape 6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1" name="Shape 8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0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2423160"/>
            <a:ext cx="2011680" cy="20116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3" name="Image 0" descr="icon_bambo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926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965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起源神話——竹生系統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28346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相傳女神將竹子立於地上，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竹節裂開後誕生一男一女神，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成為南王部落的祖先。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竹生系統以南王部落為代表。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7" name="Shape 4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9" name="Shape 6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1" name="Shape 8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4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423160"/>
            <a:ext cx="2011680" cy="20116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3" name="Image 0" descr="icon_st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926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0" y="1965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起源神話——石生系統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3657600" y="28346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相傳巨石裂開後誕生了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人形祖先，因此稱為石生系統。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以知本部落為代表，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利嘉、初鹿等部落亦屬此系統。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7" name="Shape 4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9" name="Shape 6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1" name="Shape 8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7A2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0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62293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" name="Shape 2"/>
          <p:cNvSpPr/>
          <p:nvPr/>
        </p:nvSpPr>
        <p:spPr>
          <a:xfrm>
            <a:off x="112966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163639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6" name="Shape 4"/>
          <p:cNvSpPr/>
          <p:nvPr/>
        </p:nvSpPr>
        <p:spPr>
          <a:xfrm>
            <a:off x="214312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264985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8" name="Shape 6"/>
          <p:cNvSpPr/>
          <p:nvPr/>
        </p:nvSpPr>
        <p:spPr>
          <a:xfrm>
            <a:off x="315658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9" name="Shape 7"/>
          <p:cNvSpPr/>
          <p:nvPr/>
        </p:nvSpPr>
        <p:spPr>
          <a:xfrm>
            <a:off x="366331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0" name="Shape 8"/>
          <p:cNvSpPr/>
          <p:nvPr/>
        </p:nvSpPr>
        <p:spPr>
          <a:xfrm>
            <a:off x="417004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1" name="Shape 9"/>
          <p:cNvSpPr/>
          <p:nvPr/>
        </p:nvSpPr>
        <p:spPr>
          <a:xfrm>
            <a:off x="467677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2" name="Shape 10"/>
          <p:cNvSpPr/>
          <p:nvPr/>
        </p:nvSpPr>
        <p:spPr>
          <a:xfrm>
            <a:off x="518350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3" name="Shape 11"/>
          <p:cNvSpPr/>
          <p:nvPr/>
        </p:nvSpPr>
        <p:spPr>
          <a:xfrm>
            <a:off x="569023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4" name="Shape 12"/>
          <p:cNvSpPr/>
          <p:nvPr/>
        </p:nvSpPr>
        <p:spPr>
          <a:xfrm>
            <a:off x="619696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5" name="Shape 13"/>
          <p:cNvSpPr/>
          <p:nvPr/>
        </p:nvSpPr>
        <p:spPr>
          <a:xfrm>
            <a:off x="670369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6" name="Shape 14"/>
          <p:cNvSpPr/>
          <p:nvPr/>
        </p:nvSpPr>
        <p:spPr>
          <a:xfrm>
            <a:off x="721042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7" name="Shape 15"/>
          <p:cNvSpPr/>
          <p:nvPr/>
        </p:nvSpPr>
        <p:spPr>
          <a:xfrm>
            <a:off x="771715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388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9" name="Shape 17"/>
          <p:cNvSpPr/>
          <p:nvPr/>
        </p:nvSpPr>
        <p:spPr>
          <a:xfrm>
            <a:off x="873061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0" name="Shape 18"/>
          <p:cNvSpPr/>
          <p:nvPr/>
        </p:nvSpPr>
        <p:spPr>
          <a:xfrm>
            <a:off x="923734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1" name="Shape 19"/>
          <p:cNvSpPr/>
          <p:nvPr/>
        </p:nvSpPr>
        <p:spPr>
          <a:xfrm>
            <a:off x="974407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5080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3" name="Shape 21"/>
          <p:cNvSpPr/>
          <p:nvPr/>
        </p:nvSpPr>
        <p:spPr>
          <a:xfrm>
            <a:off x="1075753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4" name="Shape 22"/>
          <p:cNvSpPr/>
          <p:nvPr/>
        </p:nvSpPr>
        <p:spPr>
          <a:xfrm>
            <a:off x="1126426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5" name="Shape 23"/>
          <p:cNvSpPr/>
          <p:nvPr/>
        </p:nvSpPr>
        <p:spPr>
          <a:xfrm>
            <a:off x="1177099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0" y="1051560"/>
            <a:ext cx="1188720" cy="11887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7" name="Image 0" descr="icon_cr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280160"/>
            <a:ext cx="731520" cy="73152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097280" y="2560320"/>
            <a:ext cx="9966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700" b="1" i="1" dirty="0">
                <a:solidFill>
                  <a:srgbClr val="F2E4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十七世紀卑南族聲勢達到顛峰，</a:t>
            </a:r>
            <a:endParaRPr lang="en-US" sz="2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700" b="1" i="1" dirty="0">
                <a:solidFill>
                  <a:srgbClr val="F2E4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卑南王曾號令東部七十二個部落</a:t>
            </a:r>
            <a:endParaRPr lang="en-US" sz="2700" dirty="0"/>
          </a:p>
        </p:txBody>
      </p:sp>
      <p:sp>
        <p:nvSpPr>
          <p:cNvPr id="29" name="Text 26"/>
          <p:cNvSpPr txBox="1"/>
          <p:nvPr/>
        </p:nvSpPr>
        <p:spPr>
          <a:xfrm>
            <a:off x="1097280" y="443484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影響力北至花蓮玉里、南至屏東恆春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11620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1" name="Shape 28"/>
          <p:cNvSpPr/>
          <p:nvPr/>
        </p:nvSpPr>
        <p:spPr>
          <a:xfrm>
            <a:off x="62293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2" name="Shape 29"/>
          <p:cNvSpPr/>
          <p:nvPr/>
        </p:nvSpPr>
        <p:spPr>
          <a:xfrm>
            <a:off x="112966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3" name="Shape 30"/>
          <p:cNvSpPr/>
          <p:nvPr/>
        </p:nvSpPr>
        <p:spPr>
          <a:xfrm>
            <a:off x="163639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4" name="Shape 31"/>
          <p:cNvSpPr/>
          <p:nvPr/>
        </p:nvSpPr>
        <p:spPr>
          <a:xfrm>
            <a:off x="214312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5" name="Shape 32"/>
          <p:cNvSpPr/>
          <p:nvPr/>
        </p:nvSpPr>
        <p:spPr>
          <a:xfrm>
            <a:off x="264985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6" name="Shape 33"/>
          <p:cNvSpPr/>
          <p:nvPr/>
        </p:nvSpPr>
        <p:spPr>
          <a:xfrm>
            <a:off x="315658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7" name="Shape 34"/>
          <p:cNvSpPr/>
          <p:nvPr/>
        </p:nvSpPr>
        <p:spPr>
          <a:xfrm>
            <a:off x="366331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8" name="Shape 35"/>
          <p:cNvSpPr/>
          <p:nvPr/>
        </p:nvSpPr>
        <p:spPr>
          <a:xfrm>
            <a:off x="417004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9" name="Shape 36"/>
          <p:cNvSpPr/>
          <p:nvPr/>
        </p:nvSpPr>
        <p:spPr>
          <a:xfrm>
            <a:off x="467677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0" name="Shape 37"/>
          <p:cNvSpPr/>
          <p:nvPr/>
        </p:nvSpPr>
        <p:spPr>
          <a:xfrm>
            <a:off x="518350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1" name="Shape 38"/>
          <p:cNvSpPr/>
          <p:nvPr/>
        </p:nvSpPr>
        <p:spPr>
          <a:xfrm>
            <a:off x="569023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2" name="Shape 39"/>
          <p:cNvSpPr/>
          <p:nvPr/>
        </p:nvSpPr>
        <p:spPr>
          <a:xfrm>
            <a:off x="619696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3" name="Shape 40"/>
          <p:cNvSpPr/>
          <p:nvPr/>
        </p:nvSpPr>
        <p:spPr>
          <a:xfrm>
            <a:off x="670369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4" name="Shape 41"/>
          <p:cNvSpPr/>
          <p:nvPr/>
        </p:nvSpPr>
        <p:spPr>
          <a:xfrm>
            <a:off x="721042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5" name="Shape 42"/>
          <p:cNvSpPr/>
          <p:nvPr/>
        </p:nvSpPr>
        <p:spPr>
          <a:xfrm>
            <a:off x="771715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6" name="Shape 43"/>
          <p:cNvSpPr/>
          <p:nvPr/>
        </p:nvSpPr>
        <p:spPr>
          <a:xfrm>
            <a:off x="822388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7" name="Shape 44"/>
          <p:cNvSpPr/>
          <p:nvPr/>
        </p:nvSpPr>
        <p:spPr>
          <a:xfrm>
            <a:off x="873061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8" name="Shape 45"/>
          <p:cNvSpPr/>
          <p:nvPr/>
        </p:nvSpPr>
        <p:spPr>
          <a:xfrm>
            <a:off x="923734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9" name="Shape 46"/>
          <p:cNvSpPr/>
          <p:nvPr/>
        </p:nvSpPr>
        <p:spPr>
          <a:xfrm>
            <a:off x="974407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50" name="Shape 47"/>
          <p:cNvSpPr/>
          <p:nvPr/>
        </p:nvSpPr>
        <p:spPr>
          <a:xfrm>
            <a:off x="1025080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51" name="Shape 48"/>
          <p:cNvSpPr/>
          <p:nvPr/>
        </p:nvSpPr>
        <p:spPr>
          <a:xfrm>
            <a:off x="1075753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52" name="Shape 49"/>
          <p:cNvSpPr/>
          <p:nvPr/>
        </p:nvSpPr>
        <p:spPr>
          <a:xfrm>
            <a:off x="1126426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53" name="Shape 50"/>
          <p:cNvSpPr/>
          <p:nvPr/>
        </p:nvSpPr>
        <p:spPr>
          <a:xfrm>
            <a:off x="1177099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0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2423160"/>
            <a:ext cx="2011680" cy="20116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3" name="Image 0" descr="icon_vill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926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965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嚴謹的年齡階級制度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28346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卑南族社會依年齡分級，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男子須循序完成少年、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青年、成年的訓練。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藉此學習服從、禮節與膽識。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7" name="Shape 4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9" name="Shape 6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1" name="Shape 8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4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423160"/>
            <a:ext cx="2011680" cy="20116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3" name="Image 0" descr="icon_ho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926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0" y="1965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少年會所與巴拉冠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3657600" y="28346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少年進入少年會所接受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體能與生活訓練；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成年後晉級「巴拉冠」青年會所。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完成訓練才具備結婚資格。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7" name="Shape 4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9" name="Shape 6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1" name="Shape 8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E0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2423160"/>
            <a:ext cx="2011680" cy="20116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3" name="Image 0" descr="icon_mon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926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965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猴祭 mangamangayau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28346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每年年底舉行，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是少年年祭的核心活動。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少年持竹製旌旗刺殺草猴，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藉此鍛鍊膽識與紀律。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7" name="Shape 4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9" name="Shape 6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1" name="Shape 8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E4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423160"/>
            <a:ext cx="2011680" cy="20116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3" name="Image 0" descr="icon_h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926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0" y="1965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大獵祭 mangayau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3657600" y="28346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緊接猴祭之後舉行，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是男子晉升成年的重要儀式。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青年在山上狩獵，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女子則在山下編織花環等候。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7" name="Shape 4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9" name="Shape 6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1" name="Shape 8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E0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2423160"/>
            <a:ext cx="2011680" cy="20116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3" name="Image 0" descr="icon_feath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926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965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聯合年祭與除喪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28346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大獵祭結束後舉行聯合年祭，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各部落齊聚歌舞同樂。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除喪儀式則用來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慰問當年喪失親人的家庭。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7" name="Shape 4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9" name="Shape 6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1" name="Shape 8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E4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423160"/>
            <a:ext cx="2011680" cy="20116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3" name="Image 0" descr="icon_flo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926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0" y="1965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花環文化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3657600" y="28346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出獵前，部落女性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負責編織花環，象徵祝福。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男子狩獵歸來，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會戴上花環迎接凱旋。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7" name="Shape 4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9" name="Shape 6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1" name="Shape 8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E0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2423160"/>
            <a:ext cx="2011680" cy="20116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3" name="Image 0" descr="icon_d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926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965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傳統男子服飾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28346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依年齡階級穿著不同配飾，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如晉級成年時圍上藍色腰帶。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服飾展現身分與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社會階級的象徵意義。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7" name="Shape 4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9" name="Shape 6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1" name="Shape 8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E4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423160"/>
            <a:ext cx="2011680" cy="20116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3" name="Image 0" descr="icon_headd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926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0" y="1965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傳統女子頭飾與服飾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3657600" y="28346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女性頭飾與刺繡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展現細膩工藝與美學。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不同場合搭配不同飾品，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呈現卑南族的審美傳統。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7" name="Shape 4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9" name="Shape 6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1" name="Shape 8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E0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2423160"/>
            <a:ext cx="2011680" cy="20116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3" name="Image 0" descr="icon_ho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926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965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傳統家屋建築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28346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傳統聚落以會所為核心，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搭配家屋群聚而居。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建築格局反映了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部落緊密的社會組織。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7" name="Shape 4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9" name="Shape 6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1" name="Shape 8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E4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423160"/>
            <a:ext cx="2011680" cy="20116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3" name="Image 0" descr="icon_mus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926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0" y="1965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祭儀歌謠與舞蹈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3657600" y="28346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猴祭、大獵祭都有專屬歌謠，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依身分不同各有曲目。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舞蹈也依場合而異，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如展現英勇的盾牌舞。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7" name="Shape 4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9" name="Shape 6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1" name="Shape 8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7A2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0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62293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" name="Shape 2"/>
          <p:cNvSpPr/>
          <p:nvPr/>
        </p:nvSpPr>
        <p:spPr>
          <a:xfrm>
            <a:off x="112966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163639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6" name="Shape 4"/>
          <p:cNvSpPr/>
          <p:nvPr/>
        </p:nvSpPr>
        <p:spPr>
          <a:xfrm>
            <a:off x="214312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264985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8" name="Shape 6"/>
          <p:cNvSpPr/>
          <p:nvPr/>
        </p:nvSpPr>
        <p:spPr>
          <a:xfrm>
            <a:off x="315658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9" name="Shape 7"/>
          <p:cNvSpPr/>
          <p:nvPr/>
        </p:nvSpPr>
        <p:spPr>
          <a:xfrm>
            <a:off x="366331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0" name="Shape 8"/>
          <p:cNvSpPr/>
          <p:nvPr/>
        </p:nvSpPr>
        <p:spPr>
          <a:xfrm>
            <a:off x="417004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1" name="Shape 9"/>
          <p:cNvSpPr/>
          <p:nvPr/>
        </p:nvSpPr>
        <p:spPr>
          <a:xfrm>
            <a:off x="467677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2" name="Shape 10"/>
          <p:cNvSpPr/>
          <p:nvPr/>
        </p:nvSpPr>
        <p:spPr>
          <a:xfrm>
            <a:off x="518350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3" name="Shape 11"/>
          <p:cNvSpPr/>
          <p:nvPr/>
        </p:nvSpPr>
        <p:spPr>
          <a:xfrm>
            <a:off x="569023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4" name="Shape 12"/>
          <p:cNvSpPr/>
          <p:nvPr/>
        </p:nvSpPr>
        <p:spPr>
          <a:xfrm>
            <a:off x="619696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5" name="Shape 13"/>
          <p:cNvSpPr/>
          <p:nvPr/>
        </p:nvSpPr>
        <p:spPr>
          <a:xfrm>
            <a:off x="670369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6" name="Shape 14"/>
          <p:cNvSpPr/>
          <p:nvPr/>
        </p:nvSpPr>
        <p:spPr>
          <a:xfrm>
            <a:off x="721042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7" name="Shape 15"/>
          <p:cNvSpPr/>
          <p:nvPr/>
        </p:nvSpPr>
        <p:spPr>
          <a:xfrm>
            <a:off x="771715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388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9" name="Shape 17"/>
          <p:cNvSpPr/>
          <p:nvPr/>
        </p:nvSpPr>
        <p:spPr>
          <a:xfrm>
            <a:off x="873061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0" name="Shape 18"/>
          <p:cNvSpPr/>
          <p:nvPr/>
        </p:nvSpPr>
        <p:spPr>
          <a:xfrm>
            <a:off x="923734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1" name="Shape 19"/>
          <p:cNvSpPr/>
          <p:nvPr/>
        </p:nvSpPr>
        <p:spPr>
          <a:xfrm>
            <a:off x="974407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5080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3" name="Shape 21"/>
          <p:cNvSpPr/>
          <p:nvPr/>
        </p:nvSpPr>
        <p:spPr>
          <a:xfrm>
            <a:off x="1075753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4" name="Shape 22"/>
          <p:cNvSpPr/>
          <p:nvPr/>
        </p:nvSpPr>
        <p:spPr>
          <a:xfrm>
            <a:off x="1126426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5" name="Shape 23"/>
          <p:cNvSpPr/>
          <p:nvPr/>
        </p:nvSpPr>
        <p:spPr>
          <a:xfrm>
            <a:off x="1177099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0" y="1051560"/>
            <a:ext cx="1188720" cy="11887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7" name="Image 0" descr="icon_mus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280160"/>
            <a:ext cx="731520" cy="73152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097280" y="2560320"/>
            <a:ext cx="9966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700" b="1" i="1" dirty="0">
                <a:solidFill>
                  <a:srgbClr val="F2E4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卑南族孕育了許多知名音樂人，</a:t>
            </a:r>
            <a:endParaRPr lang="en-US" sz="2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700" b="1" i="1" dirty="0">
                <a:solidFill>
                  <a:srgbClr val="F2E4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被譽為「音樂的民族」</a:t>
            </a:r>
            <a:endParaRPr lang="en-US" sz="2700" dirty="0"/>
          </a:p>
        </p:txBody>
      </p:sp>
      <p:sp>
        <p:nvSpPr>
          <p:cNvPr id="29" name="Text 26"/>
          <p:cNvSpPr txBox="1"/>
          <p:nvPr/>
        </p:nvSpPr>
        <p:spPr>
          <a:xfrm>
            <a:off x="1097280" y="443484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陸森寶、胡德夫、張惠妹、陳建年、紀曉君、桑布依……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11620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1" name="Shape 28"/>
          <p:cNvSpPr/>
          <p:nvPr/>
        </p:nvSpPr>
        <p:spPr>
          <a:xfrm>
            <a:off x="62293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2" name="Shape 29"/>
          <p:cNvSpPr/>
          <p:nvPr/>
        </p:nvSpPr>
        <p:spPr>
          <a:xfrm>
            <a:off x="112966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3" name="Shape 30"/>
          <p:cNvSpPr/>
          <p:nvPr/>
        </p:nvSpPr>
        <p:spPr>
          <a:xfrm>
            <a:off x="163639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4" name="Shape 31"/>
          <p:cNvSpPr/>
          <p:nvPr/>
        </p:nvSpPr>
        <p:spPr>
          <a:xfrm>
            <a:off x="214312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5" name="Shape 32"/>
          <p:cNvSpPr/>
          <p:nvPr/>
        </p:nvSpPr>
        <p:spPr>
          <a:xfrm>
            <a:off x="264985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6" name="Shape 33"/>
          <p:cNvSpPr/>
          <p:nvPr/>
        </p:nvSpPr>
        <p:spPr>
          <a:xfrm>
            <a:off x="315658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7" name="Shape 34"/>
          <p:cNvSpPr/>
          <p:nvPr/>
        </p:nvSpPr>
        <p:spPr>
          <a:xfrm>
            <a:off x="366331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8" name="Shape 35"/>
          <p:cNvSpPr/>
          <p:nvPr/>
        </p:nvSpPr>
        <p:spPr>
          <a:xfrm>
            <a:off x="417004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9" name="Shape 36"/>
          <p:cNvSpPr/>
          <p:nvPr/>
        </p:nvSpPr>
        <p:spPr>
          <a:xfrm>
            <a:off x="467677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0" name="Shape 37"/>
          <p:cNvSpPr/>
          <p:nvPr/>
        </p:nvSpPr>
        <p:spPr>
          <a:xfrm>
            <a:off x="518350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1" name="Shape 38"/>
          <p:cNvSpPr/>
          <p:nvPr/>
        </p:nvSpPr>
        <p:spPr>
          <a:xfrm>
            <a:off x="569023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2" name="Shape 39"/>
          <p:cNvSpPr/>
          <p:nvPr/>
        </p:nvSpPr>
        <p:spPr>
          <a:xfrm>
            <a:off x="619696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3" name="Shape 40"/>
          <p:cNvSpPr/>
          <p:nvPr/>
        </p:nvSpPr>
        <p:spPr>
          <a:xfrm>
            <a:off x="670369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4" name="Shape 41"/>
          <p:cNvSpPr/>
          <p:nvPr/>
        </p:nvSpPr>
        <p:spPr>
          <a:xfrm>
            <a:off x="721042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5" name="Shape 42"/>
          <p:cNvSpPr/>
          <p:nvPr/>
        </p:nvSpPr>
        <p:spPr>
          <a:xfrm>
            <a:off x="771715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6" name="Shape 43"/>
          <p:cNvSpPr/>
          <p:nvPr/>
        </p:nvSpPr>
        <p:spPr>
          <a:xfrm>
            <a:off x="822388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7" name="Shape 44"/>
          <p:cNvSpPr/>
          <p:nvPr/>
        </p:nvSpPr>
        <p:spPr>
          <a:xfrm>
            <a:off x="873061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8" name="Shape 45"/>
          <p:cNvSpPr/>
          <p:nvPr/>
        </p:nvSpPr>
        <p:spPr>
          <a:xfrm>
            <a:off x="923734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9" name="Shape 46"/>
          <p:cNvSpPr/>
          <p:nvPr/>
        </p:nvSpPr>
        <p:spPr>
          <a:xfrm>
            <a:off x="974407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50" name="Shape 47"/>
          <p:cNvSpPr/>
          <p:nvPr/>
        </p:nvSpPr>
        <p:spPr>
          <a:xfrm>
            <a:off x="1025080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51" name="Shape 48"/>
          <p:cNvSpPr/>
          <p:nvPr/>
        </p:nvSpPr>
        <p:spPr>
          <a:xfrm>
            <a:off x="1075753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52" name="Shape 49"/>
          <p:cNvSpPr/>
          <p:nvPr/>
        </p:nvSpPr>
        <p:spPr>
          <a:xfrm>
            <a:off x="1126426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53" name="Shape 50"/>
          <p:cNvSpPr/>
          <p:nvPr/>
        </p:nvSpPr>
        <p:spPr>
          <a:xfrm>
            <a:off x="1177099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DE0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2423160"/>
            <a:ext cx="2011680" cy="20116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3" name="Image 0" descr="icon_fam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926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965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母系社會與家庭制度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28346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卑南族偏向母系社會，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家族傳承多以女性為核心。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男子成年後，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常會入贅至妻子家中生活。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7" name="Shape 4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9" name="Shape 6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1" name="Shape 8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E4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423160"/>
            <a:ext cx="2011680" cy="20116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3" name="Image 0" descr="icon_la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926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0" y="1965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卑南語與語言復振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3657600" y="28346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卑南語屬於南島語系，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是文化傳承的重要根基。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近年透過族語課程與認證，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積極復振語言活力。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7" name="Shape 4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9" name="Shape 6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1" name="Shape 8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DE0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2423160"/>
            <a:ext cx="2011680" cy="20116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3" name="Image 0" descr="icon_divin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926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965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傳統信仰與占卜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28346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卑南族相信萬物皆有神靈，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重要活動前會請示神靈。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傳統占卜以鳥占、夢占為主，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用來預測吉凶方向。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7" name="Shape 4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9" name="Shape 6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1" name="Shape 8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E4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423160"/>
            <a:ext cx="2011680" cy="20116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3" name="Image 0" descr="icon_we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926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0" y="1965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傳統手工藝——編織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3657600" y="28346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藤編、月桃編織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是重要的生活工藝技術。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這些技藝也隨著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祭典活動代代相傳。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7" name="Shape 4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9" name="Shape 6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1" name="Shape 8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DE0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2423160"/>
            <a:ext cx="2011680" cy="20116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3" name="Image 0" descr="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926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965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文化保存與正名運動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28346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族人近年推動以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「Pinuyumayan」作為正式族稱。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透過教育與祭典復振，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持續守護文化根源。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7" name="Shape 4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9" name="Shape 6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1" name="Shape 8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E4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502920"/>
            <a:ext cx="1216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回顧：卑南族文化亮點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71550" y="1645920"/>
            <a:ext cx="1097280" cy="10972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4" name="Image 0" descr="icon_mon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" y="18745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" y="2834640"/>
            <a:ext cx="27660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猴祭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011930" y="1645920"/>
            <a:ext cx="1097280" cy="10972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7" name="Image 1" descr="icon_hu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530" y="1874520"/>
            <a:ext cx="640080" cy="6400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177540" y="2834640"/>
            <a:ext cx="27660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大獵祭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7052310" y="1645920"/>
            <a:ext cx="1097280" cy="10972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10" name="Image 2" descr="icon_flow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0910" y="1874520"/>
            <a:ext cx="640080" cy="6400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217920" y="2834640"/>
            <a:ext cx="27660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花環文化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10092690" y="1645920"/>
            <a:ext cx="1097280" cy="10972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13" name="Image 3" descr="icon_dre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1290" y="1874520"/>
            <a:ext cx="640080" cy="6400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258300" y="2834640"/>
            <a:ext cx="27660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傳統服飾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971550" y="4023360"/>
            <a:ext cx="1097280" cy="10972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16" name="Image 4" descr="icon_la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0150" y="4251960"/>
            <a:ext cx="640080" cy="64008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7160" y="5212080"/>
            <a:ext cx="27660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卑南語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011930" y="4023360"/>
            <a:ext cx="1097280" cy="10972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19" name="Image 5" descr="icon_musi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40530" y="4251960"/>
            <a:ext cx="640080" cy="64008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3177540" y="5212080"/>
            <a:ext cx="27660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傳統歌謠</a:t>
            </a:r>
            <a:endParaRPr lang="en-US" sz="1400" dirty="0"/>
          </a:p>
        </p:txBody>
      </p:sp>
      <p:sp>
        <p:nvSpPr>
          <p:cNvPr id="21" name="Shape 13"/>
          <p:cNvSpPr/>
          <p:nvPr/>
        </p:nvSpPr>
        <p:spPr>
          <a:xfrm>
            <a:off x="7052310" y="4023360"/>
            <a:ext cx="1097280" cy="10972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22" name="Image 6" descr="icon_weav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0910" y="4251960"/>
            <a:ext cx="640080" cy="64008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6217920" y="5212080"/>
            <a:ext cx="27660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傳統工藝</a:t>
            </a:r>
            <a:endParaRPr lang="en-US" sz="1400" dirty="0"/>
          </a:p>
        </p:txBody>
      </p:sp>
      <p:sp>
        <p:nvSpPr>
          <p:cNvPr id="24" name="Shape 15"/>
          <p:cNvSpPr/>
          <p:nvPr/>
        </p:nvSpPr>
        <p:spPr>
          <a:xfrm>
            <a:off x="10092690" y="4023360"/>
            <a:ext cx="1097280" cy="10972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25" name="Image 7" descr="icon_che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21290" y="4251960"/>
            <a:ext cx="640080" cy="64008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9258300" y="5212080"/>
            <a:ext cx="27660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正名運動</a:t>
            </a:r>
            <a:endParaRPr lang="en-US" sz="1400" dirty="0"/>
          </a:p>
        </p:txBody>
      </p:sp>
      <p:sp>
        <p:nvSpPr>
          <p:cNvPr id="27" name="Shape 17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8" name="Shape 18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9" name="Shape 19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30" name="Shape 20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1" name="Shape 21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32" name="Shape 22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3" name="Shape 23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34" name="Shape 24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5" name="Shape 25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36" name="Shape 26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7" name="Shape 27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38" name="Shape 28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9" name="Shape 29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40" name="Shape 30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1" name="Shape 31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42" name="Shape 32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3" name="Shape 33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44" name="Shape 34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5" name="Shape 35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46" name="Shape 36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7" name="Shape 37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48" name="Shape 38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9" name="Shape 39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50" name="Shape 40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7A2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0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62293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" name="Shape 2"/>
          <p:cNvSpPr/>
          <p:nvPr/>
        </p:nvSpPr>
        <p:spPr>
          <a:xfrm>
            <a:off x="112966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163639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6" name="Shape 4"/>
          <p:cNvSpPr/>
          <p:nvPr/>
        </p:nvSpPr>
        <p:spPr>
          <a:xfrm>
            <a:off x="214312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264985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8" name="Shape 6"/>
          <p:cNvSpPr/>
          <p:nvPr/>
        </p:nvSpPr>
        <p:spPr>
          <a:xfrm>
            <a:off x="315658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9" name="Shape 7"/>
          <p:cNvSpPr/>
          <p:nvPr/>
        </p:nvSpPr>
        <p:spPr>
          <a:xfrm>
            <a:off x="366331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0" name="Shape 8"/>
          <p:cNvSpPr/>
          <p:nvPr/>
        </p:nvSpPr>
        <p:spPr>
          <a:xfrm>
            <a:off x="417004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1" name="Shape 9"/>
          <p:cNvSpPr/>
          <p:nvPr/>
        </p:nvSpPr>
        <p:spPr>
          <a:xfrm>
            <a:off x="467677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2" name="Shape 10"/>
          <p:cNvSpPr/>
          <p:nvPr/>
        </p:nvSpPr>
        <p:spPr>
          <a:xfrm>
            <a:off x="518350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3" name="Shape 11"/>
          <p:cNvSpPr/>
          <p:nvPr/>
        </p:nvSpPr>
        <p:spPr>
          <a:xfrm>
            <a:off x="569023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4" name="Shape 12"/>
          <p:cNvSpPr/>
          <p:nvPr/>
        </p:nvSpPr>
        <p:spPr>
          <a:xfrm>
            <a:off x="619696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5" name="Shape 13"/>
          <p:cNvSpPr/>
          <p:nvPr/>
        </p:nvSpPr>
        <p:spPr>
          <a:xfrm>
            <a:off x="670369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6" name="Shape 14"/>
          <p:cNvSpPr/>
          <p:nvPr/>
        </p:nvSpPr>
        <p:spPr>
          <a:xfrm>
            <a:off x="721042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7" name="Shape 15"/>
          <p:cNvSpPr/>
          <p:nvPr/>
        </p:nvSpPr>
        <p:spPr>
          <a:xfrm>
            <a:off x="771715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388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9" name="Shape 17"/>
          <p:cNvSpPr/>
          <p:nvPr/>
        </p:nvSpPr>
        <p:spPr>
          <a:xfrm>
            <a:off x="873061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0" name="Shape 18"/>
          <p:cNvSpPr/>
          <p:nvPr/>
        </p:nvSpPr>
        <p:spPr>
          <a:xfrm>
            <a:off x="923734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1" name="Shape 19"/>
          <p:cNvSpPr/>
          <p:nvPr/>
        </p:nvSpPr>
        <p:spPr>
          <a:xfrm>
            <a:off x="974407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5080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3" name="Shape 21"/>
          <p:cNvSpPr/>
          <p:nvPr/>
        </p:nvSpPr>
        <p:spPr>
          <a:xfrm>
            <a:off x="1075753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4" name="Shape 22"/>
          <p:cNvSpPr/>
          <p:nvPr/>
        </p:nvSpPr>
        <p:spPr>
          <a:xfrm>
            <a:off x="1126426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5" name="Shape 23"/>
          <p:cNvSpPr/>
          <p:nvPr/>
        </p:nvSpPr>
        <p:spPr>
          <a:xfrm>
            <a:off x="1177099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6" name="Shape 24"/>
          <p:cNvSpPr/>
          <p:nvPr/>
        </p:nvSpPr>
        <p:spPr>
          <a:xfrm>
            <a:off x="5257800" y="1417320"/>
            <a:ext cx="1645920" cy="1645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7" name="Image 0" descr="icon_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737360"/>
            <a:ext cx="1005840" cy="100584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0" y="324612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2E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接下來...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0" y="374904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E4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讓凱比帶你認識卑南語！</a:t>
            </a:r>
            <a:endParaRPr lang="en-US" sz="4000" dirty="0"/>
          </a:p>
        </p:txBody>
      </p:sp>
      <p:sp>
        <p:nvSpPr>
          <p:cNvPr id="30" name="Shape 27"/>
          <p:cNvSpPr/>
          <p:nvPr/>
        </p:nvSpPr>
        <p:spPr>
          <a:xfrm>
            <a:off x="4800600" y="4892040"/>
            <a:ext cx="2560320" cy="594360"/>
          </a:xfrm>
          <a:prstGeom prst="roundRect">
            <a:avLst>
              <a:gd name="adj" fmla="val 49231"/>
            </a:avLst>
          </a:prstGeom>
          <a:solidFill>
            <a:srgbClr val="C9A227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4800600" y="4892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闖關開始 →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11620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3" name="Shape 30"/>
          <p:cNvSpPr/>
          <p:nvPr/>
        </p:nvSpPr>
        <p:spPr>
          <a:xfrm>
            <a:off x="62293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4" name="Shape 31"/>
          <p:cNvSpPr/>
          <p:nvPr/>
        </p:nvSpPr>
        <p:spPr>
          <a:xfrm>
            <a:off x="112966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5" name="Shape 32"/>
          <p:cNvSpPr/>
          <p:nvPr/>
        </p:nvSpPr>
        <p:spPr>
          <a:xfrm>
            <a:off x="163639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6" name="Shape 33"/>
          <p:cNvSpPr/>
          <p:nvPr/>
        </p:nvSpPr>
        <p:spPr>
          <a:xfrm>
            <a:off x="214312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7" name="Shape 34"/>
          <p:cNvSpPr/>
          <p:nvPr/>
        </p:nvSpPr>
        <p:spPr>
          <a:xfrm>
            <a:off x="264985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8" name="Shape 35"/>
          <p:cNvSpPr/>
          <p:nvPr/>
        </p:nvSpPr>
        <p:spPr>
          <a:xfrm>
            <a:off x="315658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9" name="Shape 36"/>
          <p:cNvSpPr/>
          <p:nvPr/>
        </p:nvSpPr>
        <p:spPr>
          <a:xfrm>
            <a:off x="366331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0" name="Shape 37"/>
          <p:cNvSpPr/>
          <p:nvPr/>
        </p:nvSpPr>
        <p:spPr>
          <a:xfrm>
            <a:off x="417004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1" name="Shape 38"/>
          <p:cNvSpPr/>
          <p:nvPr/>
        </p:nvSpPr>
        <p:spPr>
          <a:xfrm>
            <a:off x="467677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2" name="Shape 39"/>
          <p:cNvSpPr/>
          <p:nvPr/>
        </p:nvSpPr>
        <p:spPr>
          <a:xfrm>
            <a:off x="518350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3" name="Shape 40"/>
          <p:cNvSpPr/>
          <p:nvPr/>
        </p:nvSpPr>
        <p:spPr>
          <a:xfrm>
            <a:off x="569023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4" name="Shape 41"/>
          <p:cNvSpPr/>
          <p:nvPr/>
        </p:nvSpPr>
        <p:spPr>
          <a:xfrm>
            <a:off x="619696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5" name="Shape 42"/>
          <p:cNvSpPr/>
          <p:nvPr/>
        </p:nvSpPr>
        <p:spPr>
          <a:xfrm>
            <a:off x="670369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6" name="Shape 43"/>
          <p:cNvSpPr/>
          <p:nvPr/>
        </p:nvSpPr>
        <p:spPr>
          <a:xfrm>
            <a:off x="721042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7" name="Shape 44"/>
          <p:cNvSpPr/>
          <p:nvPr/>
        </p:nvSpPr>
        <p:spPr>
          <a:xfrm>
            <a:off x="771715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8" name="Shape 45"/>
          <p:cNvSpPr/>
          <p:nvPr/>
        </p:nvSpPr>
        <p:spPr>
          <a:xfrm>
            <a:off x="822388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9" name="Shape 46"/>
          <p:cNvSpPr/>
          <p:nvPr/>
        </p:nvSpPr>
        <p:spPr>
          <a:xfrm>
            <a:off x="873061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50" name="Shape 47"/>
          <p:cNvSpPr/>
          <p:nvPr/>
        </p:nvSpPr>
        <p:spPr>
          <a:xfrm>
            <a:off x="923734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51" name="Shape 48"/>
          <p:cNvSpPr/>
          <p:nvPr/>
        </p:nvSpPr>
        <p:spPr>
          <a:xfrm>
            <a:off x="974407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52" name="Shape 49"/>
          <p:cNvSpPr/>
          <p:nvPr/>
        </p:nvSpPr>
        <p:spPr>
          <a:xfrm>
            <a:off x="1025080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53" name="Shape 50"/>
          <p:cNvSpPr/>
          <p:nvPr/>
        </p:nvSpPr>
        <p:spPr>
          <a:xfrm>
            <a:off x="1075753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54" name="Shape 51"/>
          <p:cNvSpPr/>
          <p:nvPr/>
        </p:nvSpPr>
        <p:spPr>
          <a:xfrm>
            <a:off x="1126426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55" name="Shape 52"/>
          <p:cNvSpPr/>
          <p:nvPr/>
        </p:nvSpPr>
        <p:spPr>
          <a:xfrm>
            <a:off x="1177099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312</Words>
  <Application>Microsoft Office PowerPoint</Application>
  <PresentationFormat>寬螢幕</PresentationFormat>
  <Paragraphs>177</Paragraphs>
  <Slides>26</Slides>
  <Notes>26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0" baseType="lpstr">
      <vt:lpstr>Arial</vt:lpstr>
      <vt:lpstr>Calibri</vt:lpstr>
      <vt:lpstr>Cambria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Owner</cp:lastModifiedBy>
  <cp:revision>3</cp:revision>
  <dcterms:created xsi:type="dcterms:W3CDTF">2026-08-30T08:39:01Z</dcterms:created>
  <dcterms:modified xsi:type="dcterms:W3CDTF">2026-08-30T09:06:04Z</dcterms:modified>
</cp:coreProperties>
</file>